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2e033f2-b58a-e069-4c58-bfa10274a102}">
          <p14:sldIdLst>
            <p14:sldId id="256"/>
            <p14:sldId id="257"/>
            <p14:sldId id="258"/>
            <p14:sldId id="259"/>
          </p14:sldIdLst>
        </p14:section>
        <p14:section name="Data" id="{7f24a1af-4532-816f-ce8d-1808d4182331}">
          <p14:sldIdLst>
            <p14:sldId id="260"/>
            <p14:sldId id="261"/>
            <p14:sldId id="262"/>
            <p14:sldId id="263"/>
          </p14:sldIdLst>
        </p14:section>
        <p14:section name="Analysis" id="{eb915493-7d90-6298-c222-9fa7d2c2c2ae}">
          <p14:sldIdLst>
            <p14:sldId id="264"/>
            <p14:sldId id="265"/>
          </p14:sldIdLst>
        </p14:section>
        <p14:section name="Findings" id="{d46872d0-7882-f6c0-2510-8108becdaac0}">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0263F"/>
                </a:solidFill>
                <a:latin typeface="Arial"/>
              </a:defRPr>
            </a:pPr>
            <a:r>
              <a:rPr sz="1200" b="0" i="0" u="none" strike="noStrike">
                <a:solidFill>
                  <a:srgbClr val="10263F"/>
                </a:solidFill>
                <a:latin typeface="Arial"/>
              </a:rPr>
              <a:t>Missing cells ('..') per year</a:t>
            </a:r>
          </a:p>
        </c:rich>
      </c:tx>
      <c:layout/>
      <c:overlay val="0"/>
    </c:title>
    <c:autoTitleDeleted val="0"/>
    <c:plotArea>
      <c:layout/>
      <c:barChart>
        <c:barDir val="col"/>
        <c:grouping val="clustered"/>
        <c:varyColors val="0"/>
        <c:ser>
          <c:idx val="0"/>
          <c:order val="0"/>
          <c:tx>
            <c:strRef>
              <c:f>Sheet1!$B$1</c:f>
              <c:strCache>
                <c:ptCount val="1"/>
                <c:pt idx="0">
                  <c:v>Missing cells ('..')</c:v>
                </c:pt>
              </c:strCache>
            </c:strRef>
          </c:tx>
          <c:spPr>
            <a:solidFill>
              <a:srgbClr val="1B7F9E"/>
            </a:solidFill>
            <a:effectLst/>
          </c:spPr>
          <c:invertIfNegative val="0"/>
          <c:dLbls>
            <c:numFmt formatCode="#,##0" sourceLinked="0"/>
            <c:txPr>
              <a:bodyPr/>
              <a:lstStyle/>
              <a:p>
                <a:pPr>
                  <a:defRPr b="0" i="0" strike="noStrike" sz="1000" u="none">
                    <a:solidFill>
                      <a:srgbClr val="1B2430"/>
                    </a:solidFill>
                    <a:latin typeface="+mn-lt"/>
                  </a:defRPr>
                </a:pPr>
              </a:p>
            </c:txPr>
            <c:showLegendKey val="0"/>
            <c:showVal val="1"/>
            <c:showCatName val="0"/>
            <c:showSerName val="0"/>
            <c:showPercent val="0"/>
            <c:showBubbleSize val="0"/>
            <c:showLeaderLines val="0"/>
          </c:dLbls>
          <c:cat>
            <c:multiLvlStrRef>
              <c:f>Sheet1!$A$2:$A$11</c:f>
              <c:multiLvlStrCache>
                <c:ptCount val="10"/>
                <c:lvl>
                  <c:pt idx="0">
                    <c:v>2016</c:v>
                  </c:pt>
                  <c:pt idx="1">
                    <c:v>2017</c:v>
                  </c:pt>
                  <c:pt idx="2">
                    <c:v>2018</c:v>
                  </c:pt>
                  <c:pt idx="3">
                    <c:v>2019</c:v>
                  </c:pt>
                  <c:pt idx="4">
                    <c:v>2020</c:v>
                  </c:pt>
                  <c:pt idx="5">
                    <c:v>2021</c:v>
                  </c:pt>
                  <c:pt idx="6">
                    <c:v>2022</c:v>
                  </c:pt>
                  <c:pt idx="7">
                    <c:v>2023</c:v>
                  </c:pt>
                  <c:pt idx="8">
                    <c:v>2024</c:v>
                  </c:pt>
                  <c:pt idx="9">
                    <c:v>2025</c:v>
                  </c:pt>
                </c:lvl>
              </c:multiLvlStrCache>
            </c:multiLvlStrRef>
          </c:cat>
          <c:val>
            <c:numRef>
              <c:f>Sheet1!$B$2:$B$11</c:f>
              <c:numCache>
                <c:formatCode>General</c:formatCode>
                <c:ptCount val="10"/>
                <c:pt idx="0">
                  <c:v>123</c:v>
                </c:pt>
                <c:pt idx="1">
                  <c:v>126</c:v>
                </c:pt>
                <c:pt idx="2">
                  <c:v>121</c:v>
                </c:pt>
                <c:pt idx="3">
                  <c:v>128</c:v>
                </c:pt>
                <c:pt idx="4">
                  <c:v>132</c:v>
                </c:pt>
                <c:pt idx="5">
                  <c:v>161</c:v>
                </c:pt>
                <c:pt idx="6">
                  <c:v>177</c:v>
                </c:pt>
                <c:pt idx="7">
                  <c:v>220</c:v>
                </c:pt>
                <c:pt idx="8">
                  <c:v>326</c:v>
                </c:pt>
                <c:pt idx="9">
                  <c:v>642</c:v>
                </c:pt>
              </c:numCache>
            </c:numRef>
          </c:val>
        </c:ser>
        <c:dLbls>
          <c:numFmt formatCode="#,##0" sourceLinked="0"/>
          <c:txPr>
            <a:bodyPr/>
            <a:lstStyle/>
            <a:p>
              <a:pPr>
                <a:defRPr b="0" i="0" strike="noStrike" sz="1000" u="none">
                  <a:solidFill>
                    <a:srgbClr val="1B24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B2430"/>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an exploratory data analysis of real World Bank data for 20 countries from 2016 to 2025, done in Python with Pandas, NumPy, Matplotlib and Seaborn.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Economic and development data from the World Bank is used by governments, businesses and researchers. Data analysis makes that data usable.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raw World Bank extract is hard to use directly: it has footer rows, '..' instead of blanks, and year columns stored as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objectives, following the workflow shown at the bottom: collect, clean, transform, analyze, visualize, insights.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questions drive the analysis. Each is answered with Pandas calculations and, where useful, a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file is in wide format: one row per country and indicator, one column per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raw.info() showed every column as text. The '..' placeholder is why: pandas could not read the year columns as numbers until it was replaced.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here was printed in the notebook: 1,045 rows before, 1,040 after, 10,400 rows in long format, 200 rows in the country-year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on the left is one analysis question from the notebook. The screenshots are the actual notebook outputs for the country profile and the income-tier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Chart name, purpose, what the chart shows, and the key insight for each of the four charts saved in the Visualizations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insight on this slide comes from an output in the notebook. Recommendations follow directly from those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what was done, what was found, how it helps, and what could come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600200"/>
            <a:ext cx="6766560" cy="22860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7-1.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4.xml"/><Relationship Id="rId6"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yebrow"/>
          <p:cNvSpPr txBox="1"/>
          <p:nvPr/>
        </p:nvSpPr>
        <p:spPr>
          <a:xfrm>
            <a:off x="731520" y="1051560"/>
            <a:ext cx="6766560" cy="365760"/>
          </a:xfrm>
          <a:prstGeom prst="rect">
            <a:avLst/>
          </a:prstGeom>
          <a:noFill/>
          <a:ln/>
        </p:spPr>
        <p:txBody>
          <a:bodyPr wrap="square" lIns="0" tIns="0" rIns="0" bIns="0" rtlCol="0" anchor="t"/>
          <a:lstStyle/>
          <a:p>
            <a:pPr indent="0" marL="0">
              <a:buNone/>
            </a:pPr>
            <a:r>
              <a:rPr lang="en-US" sz="1400" b="1" spc="300" kern="0" dirty="0">
                <a:solidFill>
                  <a:schemeClr val="accent2"/>
                </a:solidFill>
              </a:rPr>
              <a:t>PYTHON DATA ANALYSIS PROJECT</a:t>
            </a:r>
            <a:endParaRPr lang="en-US" sz="1400" dirty="0"/>
          </a:p>
        </p:txBody>
      </p:sp>
      <p:sp>
        <p:nvSpPr>
          <p:cNvPr id="3" name="Text 0"/>
          <p:cNvSpPr/>
          <p:nvPr>
            <p:ph idx="100" type="title" hasCustomPrompt="1"/>
          </p:nvPr>
        </p:nvSpPr>
        <p:spPr>
          <a:xfrm>
            <a:off x="731520" y="1600200"/>
            <a:ext cx="6766560" cy="2286000"/>
          </a:xfrm>
          <a:prstGeom prst="rect">
            <a:avLst/>
          </a:prstGeom>
          <a:noFill/>
          <a:ln/>
        </p:spPr>
        <p:txBody>
          <a:bodyPr wrap="square" lIns="0" tIns="0" rIns="0" bIns="0" rtlCol="0" anchor="t"/>
          <a:lstStyle/>
          <a:p>
            <a:pPr algn="l" indent="0" marL="0">
              <a:buNone/>
            </a:pPr>
            <a:r>
              <a:rPr lang="en-US" sz="4000" b="1" dirty="0">
                <a:solidFill>
                  <a:schemeClr val="bg1"/>
                </a:solidFill>
              </a:rPr>
              <a:t>Exploratory Data Analysis of Global Economic Indicators</a:t>
            </a:r>
            <a:endParaRPr lang="en-US" sz="4000" dirty="0"/>
          </a:p>
        </p:txBody>
      </p:sp>
      <p:sp>
        <p:nvSpPr>
          <p:cNvPr id="4" name="Industry"/>
          <p:cNvSpPr txBox="1"/>
          <p:nvPr/>
        </p:nvSpPr>
        <p:spPr>
          <a:xfrm>
            <a:off x="731520" y="4069080"/>
            <a:ext cx="6766560" cy="457200"/>
          </a:xfrm>
          <a:prstGeom prst="rect">
            <a:avLst/>
          </a:prstGeom>
          <a:noFill/>
          <a:ln/>
        </p:spPr>
        <p:txBody>
          <a:bodyPr wrap="square" lIns="0" tIns="0" rIns="0" bIns="0" rtlCol="0" anchor="t"/>
          <a:lstStyle/>
          <a:p>
            <a:pPr indent="0" marL="0">
              <a:buNone/>
            </a:pPr>
            <a:r>
              <a:rPr lang="en-US" sz="2200" dirty="0">
                <a:solidFill>
                  <a:schemeClr val="bg2"/>
                </a:solidFill>
              </a:rPr>
              <a:t>Industry: Economics &amp; Global Development</a:t>
            </a:r>
            <a:endParaRPr lang="en-US" sz="2200" dirty="0"/>
          </a:p>
        </p:txBody>
      </p:sp>
      <p:sp>
        <p:nvSpPr>
          <p:cNvPr id="5" name="Data line"/>
          <p:cNvSpPr txBox="1"/>
          <p:nvPr/>
        </p:nvSpPr>
        <p:spPr>
          <a:xfrm>
            <a:off x="731520" y="4663440"/>
            <a:ext cx="6766560" cy="365760"/>
          </a:xfrm>
          <a:prstGeom prst="rect">
            <a:avLst/>
          </a:prstGeom>
          <a:noFill/>
          <a:ln/>
        </p:spPr>
        <p:txBody>
          <a:bodyPr wrap="square" lIns="0" tIns="0" rIns="0" bIns="0" rtlCol="0" anchor="t"/>
          <a:lstStyle/>
          <a:p>
            <a:pPr indent="0" marL="0">
              <a:buNone/>
            </a:pPr>
            <a:r>
              <a:rPr lang="en-US" sz="1400" dirty="0">
                <a:solidFill>
                  <a:schemeClr val="bg2"/>
                </a:solidFill>
              </a:rPr>
              <a:t>Data: World Bank, World Development Indicators  |  20 countries  |  2016 to 2025</a:t>
            </a:r>
            <a:endParaRPr lang="en-US" sz="1400" dirty="0"/>
          </a:p>
        </p:txBody>
      </p:sp>
      <p:sp>
        <p:nvSpPr>
          <p:cNvPr id="6" name="Student card"/>
          <p:cNvSpPr/>
          <p:nvPr/>
        </p:nvSpPr>
        <p:spPr>
          <a:xfrm>
            <a:off x="8046720" y="1097280"/>
            <a:ext cx="3474720" cy="4663440"/>
          </a:xfrm>
          <a:prstGeom prst="roundRect">
            <a:avLst>
              <a:gd name="adj" fmla="val 3158"/>
            </a:avLst>
          </a:prstGeom>
          <a:solidFill>
            <a:schemeClr val="bg1"/>
          </a:solidFill>
          <a:ln/>
          <a:effectLst>
            <a:outerShdw sx="100000" sy="100000" kx="0" ky="0" algn="bl" rotWithShape="0" blurRad="76200" dist="25400" dir="5400000">
              <a:srgbClr val="000000">
                <a:alpha val="12000"/>
              </a:srgbClr>
            </a:outerShdw>
          </a:effectLst>
        </p:spPr>
      </p:sp>
      <p:sp>
        <p:nvSpPr>
          <p:cNvPr id="7" name="FaGlobeAmericas circle"/>
          <p:cNvSpPr/>
          <p:nvPr/>
        </p:nvSpPr>
        <p:spPr>
          <a:xfrm>
            <a:off x="9235440" y="1371600"/>
            <a:ext cx="1097280" cy="1097280"/>
          </a:xfrm>
          <a:prstGeom prst="ellipse">
            <a:avLst/>
          </a:prstGeom>
          <a:solidFill>
            <a:schemeClr val="accent1"/>
          </a:solidFill>
          <a:ln/>
        </p:spPr>
      </p:sp>
      <p:pic>
        <p:nvPicPr>
          <p:cNvPr id="8" name="FaGlobeAmericas" descr="GlobeAmericas icon">    </p:cNvPr>
          <p:cNvPicPr>
            <a:picLocks noChangeAspect="1"/>
          </p:cNvPicPr>
          <p:nvPr/>
        </p:nvPicPr>
        <p:blipFill>
          <a:blip r:embed="rId1"/>
          <a:stretch>
            <a:fillRect/>
          </a:stretch>
        </p:blipFill>
        <p:spPr>
          <a:xfrm>
            <a:off x="9520733" y="1656893"/>
            <a:ext cx="526694" cy="526694"/>
          </a:xfrm>
          <a:prstGeom prst="rect">
            <a:avLst/>
          </a:prstGeom>
        </p:spPr>
      </p:pic>
      <p:sp>
        <p:nvSpPr>
          <p:cNvPr id="9" name="Presented by"/>
          <p:cNvSpPr txBox="1"/>
          <p:nvPr/>
        </p:nvSpPr>
        <p:spPr>
          <a:xfrm>
            <a:off x="8321040" y="2651760"/>
            <a:ext cx="2926080" cy="274320"/>
          </a:xfrm>
          <a:prstGeom prst="rect">
            <a:avLst/>
          </a:prstGeom>
          <a:noFill/>
          <a:ln/>
        </p:spPr>
        <p:txBody>
          <a:bodyPr wrap="square" lIns="0" tIns="0" rIns="0" bIns="0" rtlCol="0" anchor="t"/>
          <a:lstStyle/>
          <a:p>
            <a:pPr algn="ctr" indent="0" marL="0">
              <a:buNone/>
            </a:pPr>
            <a:r>
              <a:rPr lang="en-US" sz="1200" b="1" spc="200" kern="0" dirty="0">
                <a:solidFill>
                  <a:schemeClr val="accent5"/>
                </a:solidFill>
              </a:rPr>
              <a:t>PRESENTED BY</a:t>
            </a:r>
            <a:endParaRPr lang="en-US" sz="1200" dirty="0"/>
          </a:p>
        </p:txBody>
      </p:sp>
      <p:sp>
        <p:nvSpPr>
          <p:cNvPr id="10" name="Student name"/>
          <p:cNvSpPr txBox="1"/>
          <p:nvPr/>
        </p:nvSpPr>
        <p:spPr>
          <a:xfrm>
            <a:off x="8321040" y="2971800"/>
            <a:ext cx="2926080" cy="457200"/>
          </a:xfrm>
          <a:prstGeom prst="rect">
            <a:avLst/>
          </a:prstGeom>
          <a:noFill/>
          <a:ln/>
        </p:spPr>
        <p:txBody>
          <a:bodyPr wrap="square" lIns="0" tIns="0" rIns="0" bIns="0" rtlCol="0" anchor="t"/>
          <a:lstStyle/>
          <a:p>
            <a:pPr algn="ctr" indent="0" marL="0">
              <a:buNone/>
            </a:pPr>
            <a:r>
              <a:rPr lang="en-US" sz="2400" b="1" dirty="0">
                <a:solidFill>
                  <a:schemeClr val="tx2"/>
                </a:solidFill>
              </a:rPr>
              <a:t>ARCHANAA D</a:t>
            </a:r>
            <a:endParaRPr lang="en-US" sz="2400" dirty="0"/>
          </a:p>
        </p:txBody>
      </p:sp>
      <p:sp>
        <p:nvSpPr>
          <p:cNvPr id="11" name="Student ID label"/>
          <p:cNvSpPr txBox="1"/>
          <p:nvPr/>
        </p:nvSpPr>
        <p:spPr>
          <a:xfrm>
            <a:off x="8412480" y="3749040"/>
            <a:ext cx="1280160" cy="365760"/>
          </a:xfrm>
          <a:prstGeom prst="rect">
            <a:avLst/>
          </a:prstGeom>
          <a:noFill/>
          <a:ln/>
        </p:spPr>
        <p:txBody>
          <a:bodyPr wrap="square" lIns="0" tIns="0" rIns="0" bIns="0" rtlCol="0" anchor="ctr"/>
          <a:lstStyle/>
          <a:p>
            <a:pPr indent="0" marL="0">
              <a:buNone/>
            </a:pPr>
            <a:r>
              <a:rPr lang="en-US" sz="1400" dirty="0">
                <a:solidFill>
                  <a:schemeClr val="accent5"/>
                </a:solidFill>
              </a:rPr>
              <a:t>Student ID</a:t>
            </a:r>
            <a:endParaRPr lang="en-US" sz="1400" dirty="0"/>
          </a:p>
        </p:txBody>
      </p:sp>
      <p:sp>
        <p:nvSpPr>
          <p:cNvPr id="12" name="Student ID value"/>
          <p:cNvSpPr txBox="1"/>
          <p:nvPr/>
        </p:nvSpPr>
        <p:spPr>
          <a:xfrm>
            <a:off x="9692640" y="3749040"/>
            <a:ext cx="1645920" cy="365760"/>
          </a:xfrm>
          <a:prstGeom prst="rect">
            <a:avLst/>
          </a:prstGeom>
          <a:noFill/>
          <a:ln/>
        </p:spPr>
        <p:txBody>
          <a:bodyPr wrap="square" lIns="0" tIns="0" rIns="0" bIns="0" rtlCol="0" anchor="ctr"/>
          <a:lstStyle/>
          <a:p>
            <a:pPr indent="0" marL="0">
              <a:buNone/>
            </a:pPr>
            <a:r>
              <a:rPr lang="en-US" sz="1400" b="1" dirty="0">
                <a:solidFill>
                  <a:schemeClr val="tx1"/>
                </a:solidFill>
              </a:rPr>
              <a:t>AF05309158</a:t>
            </a:r>
            <a:endParaRPr lang="en-US" sz="1400" dirty="0"/>
          </a:p>
        </p:txBody>
      </p:sp>
      <p:sp>
        <p:nvSpPr>
          <p:cNvPr id="13" name="Course label"/>
          <p:cNvSpPr txBox="1"/>
          <p:nvPr/>
        </p:nvSpPr>
        <p:spPr>
          <a:xfrm>
            <a:off x="8412480" y="4297680"/>
            <a:ext cx="1280160" cy="365760"/>
          </a:xfrm>
          <a:prstGeom prst="rect">
            <a:avLst/>
          </a:prstGeom>
          <a:noFill/>
          <a:ln/>
        </p:spPr>
        <p:txBody>
          <a:bodyPr wrap="square" lIns="0" tIns="0" rIns="0" bIns="0" rtlCol="0" anchor="ctr"/>
          <a:lstStyle/>
          <a:p>
            <a:pPr indent="0" marL="0">
              <a:buNone/>
            </a:pPr>
            <a:r>
              <a:rPr lang="en-US" sz="1400" dirty="0">
                <a:solidFill>
                  <a:schemeClr val="accent5"/>
                </a:solidFill>
              </a:rPr>
              <a:t>Course</a:t>
            </a:r>
            <a:endParaRPr lang="en-US" sz="1400" dirty="0"/>
          </a:p>
        </p:txBody>
      </p:sp>
      <p:sp>
        <p:nvSpPr>
          <p:cNvPr id="14" name="Course value"/>
          <p:cNvSpPr txBox="1"/>
          <p:nvPr/>
        </p:nvSpPr>
        <p:spPr>
          <a:xfrm>
            <a:off x="9692640" y="4297680"/>
            <a:ext cx="1645920" cy="365760"/>
          </a:xfrm>
          <a:prstGeom prst="rect">
            <a:avLst/>
          </a:prstGeom>
          <a:noFill/>
          <a:ln/>
        </p:spPr>
        <p:txBody>
          <a:bodyPr wrap="square" lIns="0" tIns="0" rIns="0" bIns="0" rtlCol="0" anchor="ctr"/>
          <a:lstStyle/>
          <a:p>
            <a:pPr indent="0" marL="0">
              <a:buNone/>
            </a:pPr>
            <a:r>
              <a:rPr lang="en-US" sz="1400" b="1" dirty="0">
                <a:solidFill>
                  <a:schemeClr val="tx1"/>
                </a:solidFill>
              </a:rPr>
              <a:t>AIML</a:t>
            </a:r>
            <a:endParaRPr lang="en-US" sz="1400" dirty="0"/>
          </a:p>
        </p:txBody>
      </p:sp>
      <p:sp>
        <p:nvSpPr>
          <p:cNvPr id="15" name="Batch Code label"/>
          <p:cNvSpPr txBox="1"/>
          <p:nvPr/>
        </p:nvSpPr>
        <p:spPr>
          <a:xfrm>
            <a:off x="8412480" y="4846320"/>
            <a:ext cx="1280160" cy="365760"/>
          </a:xfrm>
          <a:prstGeom prst="rect">
            <a:avLst/>
          </a:prstGeom>
          <a:noFill/>
          <a:ln/>
        </p:spPr>
        <p:txBody>
          <a:bodyPr wrap="square" lIns="0" tIns="0" rIns="0" bIns="0" rtlCol="0" anchor="ctr"/>
          <a:lstStyle/>
          <a:p>
            <a:pPr indent="0" marL="0">
              <a:buNone/>
            </a:pPr>
            <a:r>
              <a:rPr lang="en-US" sz="1400" dirty="0">
                <a:solidFill>
                  <a:schemeClr val="accent5"/>
                </a:solidFill>
              </a:rPr>
              <a:t>Batch Code</a:t>
            </a:r>
            <a:endParaRPr lang="en-US" sz="1400" dirty="0"/>
          </a:p>
        </p:txBody>
      </p:sp>
      <p:sp>
        <p:nvSpPr>
          <p:cNvPr id="16" name="Batch Code value"/>
          <p:cNvSpPr txBox="1"/>
          <p:nvPr/>
        </p:nvSpPr>
        <p:spPr>
          <a:xfrm>
            <a:off x="9692640" y="4846320"/>
            <a:ext cx="1645920" cy="365760"/>
          </a:xfrm>
          <a:prstGeom prst="rect">
            <a:avLst/>
          </a:prstGeom>
          <a:noFill/>
          <a:ln/>
        </p:spPr>
        <p:txBody>
          <a:bodyPr wrap="square" lIns="0" tIns="0" rIns="0" bIns="0" rtlCol="0" anchor="ctr"/>
          <a:lstStyle/>
          <a:p>
            <a:pPr indent="0" marL="0">
              <a:buNone/>
            </a:pPr>
            <a:r>
              <a:rPr lang="en-US" sz="1400" b="1" dirty="0">
                <a:solidFill>
                  <a:schemeClr val="tx1"/>
                </a:solidFill>
              </a:rPr>
              <a:t>ANP-D7444</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rPr>
              <a:t>Industry Overview: Economics &amp; Global Development</a:t>
            </a:r>
            <a:endParaRPr lang="en-US" sz="3400" dirty="0"/>
          </a:p>
        </p:txBody>
      </p:sp>
      <p:sp>
        <p:nvSpPr>
          <p:cNvPr id="3" name="Card 1"/>
          <p:cNvSpPr/>
          <p:nvPr/>
        </p:nvSpPr>
        <p:spPr>
          <a:xfrm>
            <a:off x="548640" y="1371600"/>
            <a:ext cx="3566160" cy="3017520"/>
          </a:xfrm>
          <a:prstGeom prst="roundRect">
            <a:avLst>
              <a:gd name="adj" fmla="val 3636"/>
            </a:avLst>
          </a:prstGeom>
          <a:solidFill>
            <a:schemeClr val="bg2"/>
          </a:solidFill>
          <a:ln/>
          <a:effectLst>
            <a:outerShdw sx="100000" sy="100000" kx="0" ky="0" algn="bl" rotWithShape="0" blurRad="76200" dist="25400" dir="5400000">
              <a:srgbClr val="000000">
                <a:alpha val="12000"/>
              </a:srgbClr>
            </a:outerShdw>
          </a:effectLst>
        </p:spPr>
      </p:sp>
      <p:sp>
        <p:nvSpPr>
          <p:cNvPr id="4" name="FaGlobeAmericas circle"/>
          <p:cNvSpPr/>
          <p:nvPr/>
        </p:nvSpPr>
        <p:spPr>
          <a:xfrm>
            <a:off x="822960" y="1645920"/>
            <a:ext cx="731520" cy="731520"/>
          </a:xfrm>
          <a:prstGeom prst="ellipse">
            <a:avLst/>
          </a:prstGeom>
          <a:solidFill>
            <a:schemeClr val="accent1"/>
          </a:solidFill>
          <a:ln/>
        </p:spPr>
      </p:sp>
      <p:pic>
        <p:nvPicPr>
          <p:cNvPr id="5" name="FaGlobeAmericas" descr="GlobeAmericas icon">    </p:cNvPr>
          <p:cNvPicPr>
            <a:picLocks noChangeAspect="1"/>
          </p:cNvPicPr>
          <p:nvPr/>
        </p:nvPicPr>
        <p:blipFill>
          <a:blip r:embed="rId1"/>
          <a:stretch>
            <a:fillRect/>
          </a:stretch>
        </p:blipFill>
        <p:spPr>
          <a:xfrm>
            <a:off x="1013155" y="1836115"/>
            <a:ext cx="351130" cy="351130"/>
          </a:xfrm>
          <a:prstGeom prst="rect">
            <a:avLst/>
          </a:prstGeom>
        </p:spPr>
      </p:pic>
      <p:sp>
        <p:nvSpPr>
          <p:cNvPr id="6" name="Card 1 title"/>
          <p:cNvSpPr txBox="1"/>
          <p:nvPr/>
        </p:nvSpPr>
        <p:spPr>
          <a:xfrm>
            <a:off x="822960" y="2560320"/>
            <a:ext cx="3017520" cy="365760"/>
          </a:xfrm>
          <a:prstGeom prst="rect">
            <a:avLst/>
          </a:prstGeom>
          <a:noFill/>
          <a:ln/>
        </p:spPr>
        <p:txBody>
          <a:bodyPr wrap="square" lIns="0" tIns="0" rIns="0" bIns="0" rtlCol="0" anchor="t"/>
          <a:lstStyle/>
          <a:p>
            <a:pPr indent="0" marL="0">
              <a:buNone/>
            </a:pPr>
            <a:r>
              <a:rPr lang="en-US" sz="2000" b="1" dirty="0">
                <a:solidFill>
                  <a:schemeClr val="tx2"/>
                </a:solidFill>
              </a:rPr>
              <a:t>The industry</a:t>
            </a:r>
            <a:endParaRPr lang="en-US" sz="2000" dirty="0"/>
          </a:p>
        </p:txBody>
      </p:sp>
      <p:sp>
        <p:nvSpPr>
          <p:cNvPr id="7" name="Card 1 text"/>
          <p:cNvSpPr txBox="1"/>
          <p:nvPr/>
        </p:nvSpPr>
        <p:spPr>
          <a:xfrm>
            <a:off x="822960" y="3017520"/>
            <a:ext cx="3017520" cy="1280160"/>
          </a:xfrm>
          <a:prstGeom prst="rect">
            <a:avLst/>
          </a:prstGeom>
          <a:noFill/>
          <a:ln/>
        </p:spPr>
        <p:txBody>
          <a:bodyPr wrap="square" lIns="0" tIns="0" rIns="0" bIns="0" rtlCol="0" anchor="t"/>
          <a:lstStyle/>
          <a:p>
            <a:pPr indent="0" marL="0">
              <a:buNone/>
            </a:pPr>
            <a:r>
              <a:rPr lang="en-US" sz="1400" dirty="0">
                <a:solidFill>
                  <a:schemeClr val="tx1"/>
                </a:solidFill>
              </a:rPr>
              <a:t>Economics and global development study how countries produce, trade, grow and improve living standards.</a:t>
            </a:r>
            <a:endParaRPr lang="en-US" sz="1400" dirty="0"/>
          </a:p>
        </p:txBody>
      </p:sp>
      <p:sp>
        <p:nvSpPr>
          <p:cNvPr id="8" name="Card 2"/>
          <p:cNvSpPr/>
          <p:nvPr/>
        </p:nvSpPr>
        <p:spPr>
          <a:xfrm>
            <a:off x="4297680" y="1371600"/>
            <a:ext cx="3566160" cy="3017520"/>
          </a:xfrm>
          <a:prstGeom prst="roundRect">
            <a:avLst>
              <a:gd name="adj" fmla="val 3636"/>
            </a:avLst>
          </a:prstGeom>
          <a:solidFill>
            <a:schemeClr val="bg2"/>
          </a:solidFill>
          <a:ln/>
          <a:effectLst>
            <a:outerShdw sx="100000" sy="100000" kx="0" ky="0" algn="bl" rotWithShape="0" blurRad="76200" dist="25400" dir="5400000">
              <a:srgbClr val="000000">
                <a:alpha val="12000"/>
              </a:srgbClr>
            </a:outerShdw>
          </a:effectLst>
        </p:spPr>
      </p:sp>
      <p:sp>
        <p:nvSpPr>
          <p:cNvPr id="9" name="FaUsers circle"/>
          <p:cNvSpPr/>
          <p:nvPr/>
        </p:nvSpPr>
        <p:spPr>
          <a:xfrm>
            <a:off x="4572000" y="1645920"/>
            <a:ext cx="731520" cy="731520"/>
          </a:xfrm>
          <a:prstGeom prst="ellipse">
            <a:avLst/>
          </a:prstGeom>
          <a:solidFill>
            <a:schemeClr val="accent1"/>
          </a:solidFill>
          <a:ln/>
        </p:spPr>
      </p:sp>
      <p:pic>
        <p:nvPicPr>
          <p:cNvPr id="10" name="FaUsers" descr="Users icon">    </p:cNvPr>
          <p:cNvPicPr>
            <a:picLocks noChangeAspect="1"/>
          </p:cNvPicPr>
          <p:nvPr/>
        </p:nvPicPr>
        <p:blipFill>
          <a:blip r:embed="rId2"/>
          <a:stretch>
            <a:fillRect/>
          </a:stretch>
        </p:blipFill>
        <p:spPr>
          <a:xfrm>
            <a:off x="4762195" y="1836115"/>
            <a:ext cx="351130" cy="351130"/>
          </a:xfrm>
          <a:prstGeom prst="rect">
            <a:avLst/>
          </a:prstGeom>
        </p:spPr>
      </p:pic>
      <p:sp>
        <p:nvSpPr>
          <p:cNvPr id="11" name="Card 2 title"/>
          <p:cNvSpPr txBox="1"/>
          <p:nvPr/>
        </p:nvSpPr>
        <p:spPr>
          <a:xfrm>
            <a:off x="4572000" y="2560320"/>
            <a:ext cx="3017520" cy="365760"/>
          </a:xfrm>
          <a:prstGeom prst="rect">
            <a:avLst/>
          </a:prstGeom>
          <a:noFill/>
          <a:ln/>
        </p:spPr>
        <p:txBody>
          <a:bodyPr wrap="square" lIns="0" tIns="0" rIns="0" bIns="0" rtlCol="0" anchor="t"/>
          <a:lstStyle/>
          <a:p>
            <a:pPr indent="0" marL="0">
              <a:buNone/>
            </a:pPr>
            <a:r>
              <a:rPr lang="en-US" sz="2000" b="1" dirty="0">
                <a:solidFill>
                  <a:schemeClr val="tx2"/>
                </a:solidFill>
              </a:rPr>
              <a:t>Who uses the data</a:t>
            </a:r>
            <a:endParaRPr lang="en-US" sz="2000" dirty="0"/>
          </a:p>
        </p:txBody>
      </p:sp>
      <p:sp>
        <p:nvSpPr>
          <p:cNvPr id="12" name="Card 2 text"/>
          <p:cNvSpPr txBox="1"/>
          <p:nvPr/>
        </p:nvSpPr>
        <p:spPr>
          <a:xfrm>
            <a:off x="4572000" y="3017520"/>
            <a:ext cx="3017520" cy="1280160"/>
          </a:xfrm>
          <a:prstGeom prst="rect">
            <a:avLst/>
          </a:prstGeom>
          <a:noFill/>
          <a:ln/>
        </p:spPr>
        <p:txBody>
          <a:bodyPr wrap="square" lIns="0" tIns="0" rIns="0" bIns="0" rtlCol="0" anchor="t"/>
          <a:lstStyle/>
          <a:p>
            <a:pPr indent="0" marL="0">
              <a:buNone/>
            </a:pPr>
            <a:r>
              <a:rPr lang="en-US" sz="1400" dirty="0">
                <a:solidFill>
                  <a:schemeClr val="tx1"/>
                </a:solidFill>
              </a:rPr>
              <a:t>Governments, central banks, businesses, investors, researchers and development agencies.</a:t>
            </a:r>
            <a:endParaRPr lang="en-US" sz="1400" dirty="0"/>
          </a:p>
        </p:txBody>
      </p:sp>
      <p:sp>
        <p:nvSpPr>
          <p:cNvPr id="13" name="Card 3"/>
          <p:cNvSpPr/>
          <p:nvPr/>
        </p:nvSpPr>
        <p:spPr>
          <a:xfrm>
            <a:off x="8046720" y="1371600"/>
            <a:ext cx="3566160" cy="3017520"/>
          </a:xfrm>
          <a:prstGeom prst="roundRect">
            <a:avLst>
              <a:gd name="adj" fmla="val 3636"/>
            </a:avLst>
          </a:prstGeom>
          <a:solidFill>
            <a:schemeClr val="bg2"/>
          </a:solidFill>
          <a:ln/>
          <a:effectLst>
            <a:outerShdw sx="100000" sy="100000" kx="0" ky="0" algn="bl" rotWithShape="0" blurRad="76200" dist="25400" dir="5400000">
              <a:srgbClr val="000000">
                <a:alpha val="12000"/>
              </a:srgbClr>
            </a:outerShdw>
          </a:effectLst>
        </p:spPr>
      </p:sp>
      <p:sp>
        <p:nvSpPr>
          <p:cNvPr id="14" name="FaChartLine circle"/>
          <p:cNvSpPr/>
          <p:nvPr/>
        </p:nvSpPr>
        <p:spPr>
          <a:xfrm>
            <a:off x="8321040" y="1645920"/>
            <a:ext cx="731520" cy="731520"/>
          </a:xfrm>
          <a:prstGeom prst="ellipse">
            <a:avLst/>
          </a:prstGeom>
          <a:solidFill>
            <a:schemeClr val="accent1"/>
          </a:solidFill>
          <a:ln/>
        </p:spPr>
      </p:sp>
      <p:pic>
        <p:nvPicPr>
          <p:cNvPr id="15" name="FaChartLine" descr="ChartLine icon">    </p:cNvPr>
          <p:cNvPicPr>
            <a:picLocks noChangeAspect="1"/>
          </p:cNvPicPr>
          <p:nvPr/>
        </p:nvPicPr>
        <p:blipFill>
          <a:blip r:embed="rId3"/>
          <a:stretch>
            <a:fillRect/>
          </a:stretch>
        </p:blipFill>
        <p:spPr>
          <a:xfrm>
            <a:off x="8511235" y="1836115"/>
            <a:ext cx="351130" cy="351130"/>
          </a:xfrm>
          <a:prstGeom prst="rect">
            <a:avLst/>
          </a:prstGeom>
        </p:spPr>
      </p:pic>
      <p:sp>
        <p:nvSpPr>
          <p:cNvPr id="16" name="Card 3 title"/>
          <p:cNvSpPr txBox="1"/>
          <p:nvPr/>
        </p:nvSpPr>
        <p:spPr>
          <a:xfrm>
            <a:off x="8321040" y="2560320"/>
            <a:ext cx="3017520" cy="365760"/>
          </a:xfrm>
          <a:prstGeom prst="rect">
            <a:avLst/>
          </a:prstGeom>
          <a:noFill/>
          <a:ln/>
        </p:spPr>
        <p:txBody>
          <a:bodyPr wrap="square" lIns="0" tIns="0" rIns="0" bIns="0" rtlCol="0" anchor="t"/>
          <a:lstStyle/>
          <a:p>
            <a:pPr indent="0" marL="0">
              <a:buNone/>
            </a:pPr>
            <a:r>
              <a:rPr lang="en-US" sz="2000" b="1" dirty="0">
                <a:solidFill>
                  <a:schemeClr val="tx2"/>
                </a:solidFill>
              </a:rPr>
              <a:t>Why data analysis matters</a:t>
            </a:r>
            <a:endParaRPr lang="en-US" sz="2000" dirty="0"/>
          </a:p>
        </p:txBody>
      </p:sp>
      <p:sp>
        <p:nvSpPr>
          <p:cNvPr id="17" name="Card 3 text"/>
          <p:cNvSpPr txBox="1"/>
          <p:nvPr/>
        </p:nvSpPr>
        <p:spPr>
          <a:xfrm>
            <a:off x="8321040" y="3017520"/>
            <a:ext cx="3017520" cy="1280160"/>
          </a:xfrm>
          <a:prstGeom prst="rect">
            <a:avLst/>
          </a:prstGeom>
          <a:noFill/>
          <a:ln/>
        </p:spPr>
        <p:txBody>
          <a:bodyPr wrap="square" lIns="0" tIns="0" rIns="0" bIns="0" rtlCol="0" anchor="t"/>
          <a:lstStyle/>
          <a:p>
            <a:pPr indent="0" marL="0">
              <a:buNone/>
            </a:pPr>
            <a:r>
              <a:rPr lang="en-US" sz="1400" dirty="0">
                <a:solidFill>
                  <a:schemeClr val="tx1"/>
                </a:solidFill>
              </a:rPr>
              <a:t>It turns large indicator tables into trends, comparisons and warning signs that support policy and investment decisions.</a:t>
            </a:r>
            <a:endParaRPr lang="en-US" sz="1400" dirty="0"/>
          </a:p>
        </p:txBody>
      </p:sp>
      <p:sp>
        <p:nvSpPr>
          <p:cNvPr id="18" name="Stat 1"/>
          <p:cNvSpPr txBox="1"/>
          <p:nvPr/>
        </p:nvSpPr>
        <p:spPr>
          <a:xfrm>
            <a:off x="548640" y="4663440"/>
            <a:ext cx="2651760" cy="868680"/>
          </a:xfrm>
          <a:prstGeom prst="rect">
            <a:avLst/>
          </a:prstGeom>
          <a:noFill/>
          <a:ln/>
        </p:spPr>
        <p:txBody>
          <a:bodyPr wrap="square" lIns="0" tIns="0" rIns="0" bIns="0" rtlCol="0" anchor="ctr"/>
          <a:lstStyle/>
          <a:p>
            <a:pPr indent="0" marL="0">
              <a:buNone/>
            </a:pPr>
            <a:r>
              <a:rPr lang="en-US" sz="5400" b="1" dirty="0">
                <a:solidFill>
                  <a:schemeClr val="accent1"/>
                </a:solidFill>
              </a:rPr>
              <a:t>20</a:t>
            </a:r>
            <a:endParaRPr lang="en-US" sz="5400" dirty="0"/>
          </a:p>
        </p:txBody>
      </p:sp>
      <p:sp>
        <p:nvSpPr>
          <p:cNvPr id="19" name="Stat label 1"/>
          <p:cNvSpPr txBox="1"/>
          <p:nvPr/>
        </p:nvSpPr>
        <p:spPr>
          <a:xfrm>
            <a:off x="548640" y="5577840"/>
            <a:ext cx="2651760" cy="365760"/>
          </a:xfrm>
          <a:prstGeom prst="rect">
            <a:avLst/>
          </a:prstGeom>
          <a:noFill/>
          <a:ln/>
        </p:spPr>
        <p:txBody>
          <a:bodyPr wrap="square" lIns="0" tIns="0" rIns="0" bIns="0" rtlCol="0" anchor="t"/>
          <a:lstStyle/>
          <a:p>
            <a:pPr indent="0" marL="0">
              <a:buNone/>
            </a:pPr>
            <a:r>
              <a:rPr lang="en-US" sz="1400" dirty="0">
                <a:solidFill>
                  <a:schemeClr val="accent5"/>
                </a:solidFill>
              </a:rPr>
              <a:t>countries</a:t>
            </a:r>
            <a:endParaRPr lang="en-US" sz="1400" dirty="0"/>
          </a:p>
        </p:txBody>
      </p:sp>
      <p:sp>
        <p:nvSpPr>
          <p:cNvPr id="20" name="Stat 2"/>
          <p:cNvSpPr txBox="1"/>
          <p:nvPr/>
        </p:nvSpPr>
        <p:spPr>
          <a:xfrm>
            <a:off x="3383280" y="4663440"/>
            <a:ext cx="2651760" cy="868680"/>
          </a:xfrm>
          <a:prstGeom prst="rect">
            <a:avLst/>
          </a:prstGeom>
          <a:noFill/>
          <a:ln/>
        </p:spPr>
        <p:txBody>
          <a:bodyPr wrap="square" lIns="0" tIns="0" rIns="0" bIns="0" rtlCol="0" anchor="ctr"/>
          <a:lstStyle/>
          <a:p>
            <a:pPr indent="0" marL="0">
              <a:buNone/>
            </a:pPr>
            <a:r>
              <a:rPr lang="en-US" sz="5400" b="1" dirty="0">
                <a:solidFill>
                  <a:schemeClr val="accent1"/>
                </a:solidFill>
              </a:rPr>
              <a:t>52</a:t>
            </a:r>
            <a:endParaRPr lang="en-US" sz="5400" dirty="0"/>
          </a:p>
        </p:txBody>
      </p:sp>
      <p:sp>
        <p:nvSpPr>
          <p:cNvPr id="21" name="Stat label 2"/>
          <p:cNvSpPr txBox="1"/>
          <p:nvPr/>
        </p:nvSpPr>
        <p:spPr>
          <a:xfrm>
            <a:off x="3383280" y="5577840"/>
            <a:ext cx="2651760" cy="365760"/>
          </a:xfrm>
          <a:prstGeom prst="rect">
            <a:avLst/>
          </a:prstGeom>
          <a:noFill/>
          <a:ln/>
        </p:spPr>
        <p:txBody>
          <a:bodyPr wrap="square" lIns="0" tIns="0" rIns="0" bIns="0" rtlCol="0" anchor="t"/>
          <a:lstStyle/>
          <a:p>
            <a:pPr indent="0" marL="0">
              <a:buNone/>
            </a:pPr>
            <a:r>
              <a:rPr lang="en-US" sz="1400" dirty="0">
                <a:solidFill>
                  <a:schemeClr val="accent5"/>
                </a:solidFill>
              </a:rPr>
              <a:t>indicators</a:t>
            </a:r>
            <a:endParaRPr lang="en-US" sz="1400" dirty="0"/>
          </a:p>
        </p:txBody>
      </p:sp>
      <p:sp>
        <p:nvSpPr>
          <p:cNvPr id="22" name="Stat 3"/>
          <p:cNvSpPr txBox="1"/>
          <p:nvPr/>
        </p:nvSpPr>
        <p:spPr>
          <a:xfrm>
            <a:off x="6217920" y="4663440"/>
            <a:ext cx="2651760" cy="868680"/>
          </a:xfrm>
          <a:prstGeom prst="rect">
            <a:avLst/>
          </a:prstGeom>
          <a:noFill/>
          <a:ln/>
        </p:spPr>
        <p:txBody>
          <a:bodyPr wrap="square" lIns="0" tIns="0" rIns="0" bIns="0" rtlCol="0" anchor="ctr"/>
          <a:lstStyle/>
          <a:p>
            <a:pPr indent="0" marL="0">
              <a:buNone/>
            </a:pPr>
            <a:r>
              <a:rPr lang="en-US" sz="5400" b="1" dirty="0">
                <a:solidFill>
                  <a:schemeClr val="accent1"/>
                </a:solidFill>
              </a:rPr>
              <a:t>10</a:t>
            </a:r>
            <a:endParaRPr lang="en-US" sz="5400" dirty="0"/>
          </a:p>
        </p:txBody>
      </p:sp>
      <p:sp>
        <p:nvSpPr>
          <p:cNvPr id="23" name="Stat label 3"/>
          <p:cNvSpPr txBox="1"/>
          <p:nvPr/>
        </p:nvSpPr>
        <p:spPr>
          <a:xfrm>
            <a:off x="6217920" y="5577840"/>
            <a:ext cx="2651760" cy="365760"/>
          </a:xfrm>
          <a:prstGeom prst="rect">
            <a:avLst/>
          </a:prstGeom>
          <a:noFill/>
          <a:ln/>
        </p:spPr>
        <p:txBody>
          <a:bodyPr wrap="square" lIns="0" tIns="0" rIns="0" bIns="0" rtlCol="0" anchor="t"/>
          <a:lstStyle/>
          <a:p>
            <a:pPr indent="0" marL="0">
              <a:buNone/>
            </a:pPr>
            <a:r>
              <a:rPr lang="en-US" sz="1400" dirty="0">
                <a:solidFill>
                  <a:schemeClr val="accent5"/>
                </a:solidFill>
              </a:rPr>
              <a:t>years (2016 to 2025)</a:t>
            </a:r>
            <a:endParaRPr lang="en-US" sz="1400" dirty="0"/>
          </a:p>
        </p:txBody>
      </p:sp>
      <p:sp>
        <p:nvSpPr>
          <p:cNvPr id="24" name="Stat 4"/>
          <p:cNvSpPr txBox="1"/>
          <p:nvPr/>
        </p:nvSpPr>
        <p:spPr>
          <a:xfrm>
            <a:off x="9052560" y="4663440"/>
            <a:ext cx="2651760" cy="868680"/>
          </a:xfrm>
          <a:prstGeom prst="rect">
            <a:avLst/>
          </a:prstGeom>
          <a:noFill/>
          <a:ln/>
        </p:spPr>
        <p:txBody>
          <a:bodyPr wrap="square" lIns="0" tIns="0" rIns="0" bIns="0" rtlCol="0" anchor="ctr"/>
          <a:lstStyle/>
          <a:p>
            <a:pPr indent="0" marL="0">
              <a:buNone/>
            </a:pPr>
            <a:r>
              <a:rPr lang="en-US" sz="3600" b="1" dirty="0">
                <a:solidFill>
                  <a:schemeClr val="accent1"/>
                </a:solidFill>
              </a:rPr>
              <a:t>World Bank</a:t>
            </a:r>
            <a:endParaRPr lang="en-US" sz="3600" dirty="0"/>
          </a:p>
        </p:txBody>
      </p:sp>
      <p:sp>
        <p:nvSpPr>
          <p:cNvPr id="25" name="Stat label 4"/>
          <p:cNvSpPr txBox="1"/>
          <p:nvPr/>
        </p:nvSpPr>
        <p:spPr>
          <a:xfrm>
            <a:off x="9052560" y="5577840"/>
            <a:ext cx="2651760" cy="365760"/>
          </a:xfrm>
          <a:prstGeom prst="rect">
            <a:avLst/>
          </a:prstGeom>
          <a:noFill/>
          <a:ln/>
        </p:spPr>
        <p:txBody>
          <a:bodyPr wrap="square" lIns="0" tIns="0" rIns="0" bIns="0" rtlCol="0" anchor="t"/>
          <a:lstStyle/>
          <a:p>
            <a:pPr indent="0" marL="0">
              <a:buNone/>
            </a:pPr>
            <a:r>
              <a:rPr lang="en-US" sz="1400" dirty="0">
                <a:solidFill>
                  <a:schemeClr val="accent5"/>
                </a:solidFill>
              </a:rPr>
              <a:t>single data source</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rPr>
              <a:t>Problem Statement</a:t>
            </a:r>
            <a:endParaRPr lang="en-US" sz="3400" dirty="0"/>
          </a:p>
        </p:txBody>
      </p:sp>
      <p:sp>
        <p:nvSpPr>
          <p:cNvPr id="3" name="Problem card"/>
          <p:cNvSpPr/>
          <p:nvPr/>
        </p:nvSpPr>
        <p:spPr>
          <a:xfrm>
            <a:off x="548640" y="1371600"/>
            <a:ext cx="6309360" cy="3063240"/>
          </a:xfrm>
          <a:prstGeom prst="roundRect">
            <a:avLst>
              <a:gd name="adj" fmla="val 3582"/>
            </a:avLst>
          </a:prstGeom>
          <a:solidFill>
            <a:schemeClr val="tx2"/>
          </a:solidFill>
          <a:ln/>
          <a:effectLst>
            <a:outerShdw sx="100000" sy="100000" kx="0" ky="0" algn="bl" rotWithShape="0" blurRad="76200" dist="25400" dir="5400000">
              <a:srgbClr val="000000">
                <a:alpha val="12000"/>
              </a:srgbClr>
            </a:outerShdw>
          </a:effectLst>
        </p:spPr>
      </p:sp>
      <p:sp>
        <p:nvSpPr>
          <p:cNvPr id="4" name="FaExclamationTriangle circle"/>
          <p:cNvSpPr/>
          <p:nvPr/>
        </p:nvSpPr>
        <p:spPr>
          <a:xfrm>
            <a:off x="868680" y="1645920"/>
            <a:ext cx="685800" cy="685800"/>
          </a:xfrm>
          <a:prstGeom prst="ellipse">
            <a:avLst/>
          </a:prstGeom>
          <a:solidFill>
            <a:schemeClr val="accent2"/>
          </a:solidFill>
          <a:ln/>
        </p:spPr>
      </p:sp>
      <p:pic>
        <p:nvPicPr>
          <p:cNvPr id="5" name="FaExclamationTriangle" descr="ExclamationTriangle icon">    </p:cNvPr>
          <p:cNvPicPr>
            <a:picLocks noChangeAspect="1"/>
          </p:cNvPicPr>
          <p:nvPr/>
        </p:nvPicPr>
        <p:blipFill>
          <a:blip r:embed="rId1"/>
          <a:stretch>
            <a:fillRect/>
          </a:stretch>
        </p:blipFill>
        <p:spPr>
          <a:xfrm>
            <a:off x="1046988" y="1824228"/>
            <a:ext cx="329184" cy="329184"/>
          </a:xfrm>
          <a:prstGeom prst="rect">
            <a:avLst/>
          </a:prstGeom>
        </p:spPr>
      </p:pic>
      <p:sp>
        <p:nvSpPr>
          <p:cNvPr id="6" name="Problem heading"/>
          <p:cNvSpPr txBox="1"/>
          <p:nvPr/>
        </p:nvSpPr>
        <p:spPr>
          <a:xfrm>
            <a:off x="1691640" y="1645920"/>
            <a:ext cx="4754880" cy="685800"/>
          </a:xfrm>
          <a:prstGeom prst="rect">
            <a:avLst/>
          </a:prstGeom>
          <a:noFill/>
          <a:ln/>
        </p:spPr>
        <p:txBody>
          <a:bodyPr wrap="square" lIns="0" tIns="0" rIns="0" bIns="0" rtlCol="0" anchor="ctr"/>
          <a:lstStyle/>
          <a:p>
            <a:pPr indent="0" marL="0">
              <a:buNone/>
            </a:pPr>
            <a:r>
              <a:rPr lang="en-US" sz="2200" b="1" dirty="0">
                <a:solidFill>
                  <a:schemeClr val="bg1"/>
                </a:solidFill>
              </a:rPr>
              <a:t>The problem</a:t>
            </a:r>
            <a:endParaRPr lang="en-US" sz="2200" dirty="0"/>
          </a:p>
        </p:txBody>
      </p:sp>
      <p:sp>
        <p:nvSpPr>
          <p:cNvPr id="7" name="Problem text"/>
          <p:cNvSpPr txBox="1"/>
          <p:nvPr/>
        </p:nvSpPr>
        <p:spPr>
          <a:xfrm>
            <a:off x="868680" y="2514600"/>
            <a:ext cx="5669280" cy="1737360"/>
          </a:xfrm>
          <a:prstGeom prst="rect">
            <a:avLst/>
          </a:prstGeom>
          <a:noFill/>
          <a:ln/>
        </p:spPr>
        <p:txBody>
          <a:bodyPr wrap="square" lIns="0" tIns="0" rIns="0" bIns="0" rtlCol="0" anchor="t"/>
          <a:lstStyle/>
          <a:p>
            <a:pPr indent="0" marL="0">
              <a:buNone/>
            </a:pPr>
            <a:r>
              <a:rPr lang="en-US" sz="1800" dirty="0">
                <a:solidFill>
                  <a:schemeClr val="bg1"/>
                </a:solidFill>
              </a:rPr>
              <a:t>Economic data for many countries comes as large, messy indicator tables. Without cleaning and analysis it is hard to see how economies grow, how they react to shocks such as COVID-19, and how income relates to inflation and health.</a:t>
            </a:r>
            <a:endParaRPr lang="en-US" sz="1800" dirty="0"/>
          </a:p>
        </p:txBody>
      </p:sp>
      <p:sp>
        <p:nvSpPr>
          <p:cNvPr id="8" name="Why card"/>
          <p:cNvSpPr/>
          <p:nvPr/>
        </p:nvSpPr>
        <p:spPr>
          <a:xfrm>
            <a:off x="7132320" y="1371600"/>
            <a:ext cx="4507992" cy="1417320"/>
          </a:xfrm>
          <a:prstGeom prst="roundRect">
            <a:avLst>
              <a:gd name="adj" fmla="val 7742"/>
            </a:avLst>
          </a:prstGeom>
          <a:solidFill>
            <a:schemeClr val="bg2"/>
          </a:solidFill>
          <a:ln/>
          <a:effectLst>
            <a:outerShdw sx="100000" sy="100000" kx="0" ky="0" algn="bl" rotWithShape="0" blurRad="76200" dist="25400" dir="5400000">
              <a:srgbClr val="000000">
                <a:alpha val="12000"/>
              </a:srgbClr>
            </a:outerShdw>
          </a:effectLst>
        </p:spPr>
      </p:sp>
      <p:sp>
        <p:nvSpPr>
          <p:cNvPr id="9" name="Why heading"/>
          <p:cNvSpPr txBox="1"/>
          <p:nvPr/>
        </p:nvSpPr>
        <p:spPr>
          <a:xfrm>
            <a:off x="7360920" y="1508760"/>
            <a:ext cx="4023360" cy="320040"/>
          </a:xfrm>
          <a:prstGeom prst="rect">
            <a:avLst/>
          </a:prstGeom>
          <a:noFill/>
          <a:ln/>
        </p:spPr>
        <p:txBody>
          <a:bodyPr wrap="square" lIns="0" tIns="0" rIns="0" bIns="0" rtlCol="0" anchor="t"/>
          <a:lstStyle/>
          <a:p>
            <a:pPr indent="0" marL="0">
              <a:buNone/>
            </a:pPr>
            <a:r>
              <a:rPr lang="en-US" sz="1600" b="1" dirty="0">
                <a:solidFill>
                  <a:schemeClr val="accent1"/>
                </a:solidFill>
              </a:rPr>
              <a:t>Why it is important</a:t>
            </a:r>
            <a:endParaRPr lang="en-US" sz="1600" dirty="0"/>
          </a:p>
        </p:txBody>
      </p:sp>
      <p:sp>
        <p:nvSpPr>
          <p:cNvPr id="10" name="Why text"/>
          <p:cNvSpPr txBox="1"/>
          <p:nvPr/>
        </p:nvSpPr>
        <p:spPr>
          <a:xfrm>
            <a:off x="7360920" y="1874520"/>
            <a:ext cx="4023360" cy="868680"/>
          </a:xfrm>
          <a:prstGeom prst="rect">
            <a:avLst/>
          </a:prstGeom>
          <a:noFill/>
          <a:ln/>
        </p:spPr>
        <p:txBody>
          <a:bodyPr wrap="square" lIns="0" tIns="0" rIns="0" bIns="0" rtlCol="0" anchor="t"/>
          <a:lstStyle/>
          <a:p>
            <a:pPr indent="0" marL="0">
              <a:buNone/>
            </a:pPr>
            <a:r>
              <a:rPr lang="en-US" sz="1400" dirty="0">
                <a:solidFill>
                  <a:schemeClr val="tx1"/>
                </a:solidFill>
              </a:rPr>
              <a:t>Policy, investment and development decisions depend on a clear, accurate picture of economic performance.</a:t>
            </a:r>
            <a:endParaRPr lang="en-US" sz="1400" dirty="0"/>
          </a:p>
        </p:txBody>
      </p:sp>
      <p:sp>
        <p:nvSpPr>
          <p:cNvPr id="11" name="Who card"/>
          <p:cNvSpPr/>
          <p:nvPr/>
        </p:nvSpPr>
        <p:spPr>
          <a:xfrm>
            <a:off x="7132320" y="3017520"/>
            <a:ext cx="4507992" cy="1417320"/>
          </a:xfrm>
          <a:prstGeom prst="roundRect">
            <a:avLst>
              <a:gd name="adj" fmla="val 7742"/>
            </a:avLst>
          </a:prstGeom>
          <a:solidFill>
            <a:schemeClr val="bg2"/>
          </a:solidFill>
          <a:ln/>
          <a:effectLst>
            <a:outerShdw sx="100000" sy="100000" kx="0" ky="0" algn="bl" rotWithShape="0" blurRad="76200" dist="25400" dir="5400000">
              <a:srgbClr val="000000">
                <a:alpha val="12000"/>
              </a:srgbClr>
            </a:outerShdw>
          </a:effectLst>
        </p:spPr>
      </p:sp>
      <p:sp>
        <p:nvSpPr>
          <p:cNvPr id="12" name="Who heading"/>
          <p:cNvSpPr txBox="1"/>
          <p:nvPr/>
        </p:nvSpPr>
        <p:spPr>
          <a:xfrm>
            <a:off x="7360920" y="3154680"/>
            <a:ext cx="4023360" cy="320040"/>
          </a:xfrm>
          <a:prstGeom prst="rect">
            <a:avLst/>
          </a:prstGeom>
          <a:noFill/>
          <a:ln/>
        </p:spPr>
        <p:txBody>
          <a:bodyPr wrap="square" lIns="0" tIns="0" rIns="0" bIns="0" rtlCol="0" anchor="t"/>
          <a:lstStyle/>
          <a:p>
            <a:pPr indent="0" marL="0">
              <a:buNone/>
            </a:pPr>
            <a:r>
              <a:rPr lang="en-US" sz="1600" b="1" dirty="0">
                <a:solidFill>
                  <a:schemeClr val="accent1"/>
                </a:solidFill>
              </a:rPr>
              <a:t>Who is affected</a:t>
            </a:r>
            <a:endParaRPr lang="en-US" sz="1600" dirty="0"/>
          </a:p>
        </p:txBody>
      </p:sp>
      <p:sp>
        <p:nvSpPr>
          <p:cNvPr id="13" name="Who text"/>
          <p:cNvSpPr txBox="1"/>
          <p:nvPr/>
        </p:nvSpPr>
        <p:spPr>
          <a:xfrm>
            <a:off x="7360920" y="3520440"/>
            <a:ext cx="4023360" cy="868680"/>
          </a:xfrm>
          <a:prstGeom prst="rect">
            <a:avLst/>
          </a:prstGeom>
          <a:noFill/>
          <a:ln/>
        </p:spPr>
        <p:txBody>
          <a:bodyPr wrap="square" lIns="0" tIns="0" rIns="0" bIns="0" rtlCol="0" anchor="t"/>
          <a:lstStyle/>
          <a:p>
            <a:pPr indent="0" marL="0">
              <a:buNone/>
            </a:pPr>
            <a:r>
              <a:rPr lang="en-US" sz="1400" dirty="0">
                <a:solidFill>
                  <a:schemeClr val="tx1"/>
                </a:solidFill>
              </a:rPr>
              <a:t>Policymakers, businesses and investors, researchers, and citizens whose living standards depend on those decisions.</a:t>
            </a:r>
            <a:endParaRPr lang="en-US" sz="1400" dirty="0"/>
          </a:p>
        </p:txBody>
      </p:sp>
      <p:sp>
        <p:nvSpPr>
          <p:cNvPr id="14" name="Problem stat 1"/>
          <p:cNvSpPr txBox="1"/>
          <p:nvPr/>
        </p:nvSpPr>
        <p:spPr>
          <a:xfrm>
            <a:off x="548640" y="4846320"/>
            <a:ext cx="3566160" cy="640080"/>
          </a:xfrm>
          <a:prstGeom prst="rect">
            <a:avLst/>
          </a:prstGeom>
          <a:noFill/>
          <a:ln/>
        </p:spPr>
        <p:txBody>
          <a:bodyPr wrap="square" lIns="0" tIns="0" rIns="0" bIns="0" rtlCol="0" anchor="t"/>
          <a:lstStyle/>
          <a:p>
            <a:pPr indent="0" marL="0">
              <a:buNone/>
            </a:pPr>
            <a:r>
              <a:rPr lang="en-US" sz="3600" b="1" dirty="0">
                <a:solidFill>
                  <a:schemeClr val="accent3"/>
                </a:solidFill>
              </a:rPr>
              <a:t>52 x 20 x 10</a:t>
            </a:r>
            <a:endParaRPr lang="en-US" sz="3600" dirty="0"/>
          </a:p>
        </p:txBody>
      </p:sp>
      <p:sp>
        <p:nvSpPr>
          <p:cNvPr id="15" name="Problem stat label 1"/>
          <p:cNvSpPr txBox="1"/>
          <p:nvPr/>
        </p:nvSpPr>
        <p:spPr>
          <a:xfrm>
            <a:off x="548640" y="5486400"/>
            <a:ext cx="3566160" cy="365760"/>
          </a:xfrm>
          <a:prstGeom prst="rect">
            <a:avLst/>
          </a:prstGeom>
          <a:noFill/>
          <a:ln/>
        </p:spPr>
        <p:txBody>
          <a:bodyPr wrap="square" lIns="0" tIns="0" rIns="0" bIns="0" rtlCol="0" anchor="t"/>
          <a:lstStyle/>
          <a:p>
            <a:pPr indent="0" marL="0">
              <a:buNone/>
            </a:pPr>
            <a:r>
              <a:rPr lang="en-US" sz="1400" dirty="0">
                <a:solidFill>
                  <a:schemeClr val="accent5"/>
                </a:solidFill>
              </a:rPr>
              <a:t>indicators x countries x years</a:t>
            </a:r>
            <a:endParaRPr lang="en-US" sz="1400" dirty="0"/>
          </a:p>
        </p:txBody>
      </p:sp>
      <p:sp>
        <p:nvSpPr>
          <p:cNvPr id="16" name="Problem stat 2"/>
          <p:cNvSpPr txBox="1"/>
          <p:nvPr/>
        </p:nvSpPr>
        <p:spPr>
          <a:xfrm>
            <a:off x="4343400" y="4846320"/>
            <a:ext cx="3566160" cy="640080"/>
          </a:xfrm>
          <a:prstGeom prst="rect">
            <a:avLst/>
          </a:prstGeom>
          <a:noFill/>
          <a:ln/>
        </p:spPr>
        <p:txBody>
          <a:bodyPr wrap="square" lIns="0" tIns="0" rIns="0" bIns="0" rtlCol="0" anchor="t"/>
          <a:lstStyle/>
          <a:p>
            <a:pPr indent="0" marL="0">
              <a:buNone/>
            </a:pPr>
            <a:r>
              <a:rPr lang="en-US" sz="3600" b="1" dirty="0">
                <a:solidFill>
                  <a:schemeClr val="accent3"/>
                </a:solidFill>
              </a:rPr>
              <a:t>20.7%</a:t>
            </a:r>
            <a:endParaRPr lang="en-US" sz="3600" dirty="0"/>
          </a:p>
        </p:txBody>
      </p:sp>
      <p:sp>
        <p:nvSpPr>
          <p:cNvPr id="17" name="Problem stat label 2"/>
          <p:cNvSpPr txBox="1"/>
          <p:nvPr/>
        </p:nvSpPr>
        <p:spPr>
          <a:xfrm>
            <a:off x="4343400" y="5486400"/>
            <a:ext cx="3566160" cy="365760"/>
          </a:xfrm>
          <a:prstGeom prst="rect">
            <a:avLst/>
          </a:prstGeom>
          <a:noFill/>
          <a:ln/>
        </p:spPr>
        <p:txBody>
          <a:bodyPr wrap="square" lIns="0" tIns="0" rIns="0" bIns="0" rtlCol="0" anchor="t"/>
          <a:lstStyle/>
          <a:p>
            <a:pPr indent="0" marL="0">
              <a:buNone/>
            </a:pPr>
            <a:r>
              <a:rPr lang="en-US" sz="1400" dirty="0">
                <a:solidFill>
                  <a:schemeClr val="accent5"/>
                </a:solidFill>
              </a:rPr>
              <a:t>of values are missing</a:t>
            </a:r>
            <a:endParaRPr lang="en-US" sz="1400" dirty="0"/>
          </a:p>
        </p:txBody>
      </p:sp>
      <p:sp>
        <p:nvSpPr>
          <p:cNvPr id="18" name="Problem stat 3"/>
          <p:cNvSpPr txBox="1"/>
          <p:nvPr/>
        </p:nvSpPr>
        <p:spPr>
          <a:xfrm>
            <a:off x="8138160" y="4846320"/>
            <a:ext cx="3566160" cy="640080"/>
          </a:xfrm>
          <a:prstGeom prst="rect">
            <a:avLst/>
          </a:prstGeom>
          <a:noFill/>
          <a:ln/>
        </p:spPr>
        <p:txBody>
          <a:bodyPr wrap="square" lIns="0" tIns="0" rIns="0" bIns="0" rtlCol="0" anchor="t"/>
          <a:lstStyle/>
          <a:p>
            <a:pPr indent="0" marL="0">
              <a:buNone/>
            </a:pPr>
            <a:r>
              <a:rPr lang="en-US" sz="3600" b="1" dirty="0">
                <a:solidFill>
                  <a:schemeClr val="accent3"/>
                </a:solidFill>
              </a:rPr>
              <a:t>..</a:t>
            </a:r>
            <a:endParaRPr lang="en-US" sz="3600" dirty="0"/>
          </a:p>
        </p:txBody>
      </p:sp>
      <p:sp>
        <p:nvSpPr>
          <p:cNvPr id="19" name="Problem stat label 3"/>
          <p:cNvSpPr txBox="1"/>
          <p:nvPr/>
        </p:nvSpPr>
        <p:spPr>
          <a:xfrm>
            <a:off x="8138160" y="5486400"/>
            <a:ext cx="3566160" cy="365760"/>
          </a:xfrm>
          <a:prstGeom prst="rect">
            <a:avLst/>
          </a:prstGeom>
          <a:noFill/>
          <a:ln/>
        </p:spPr>
        <p:txBody>
          <a:bodyPr wrap="square" lIns="0" tIns="0" rIns="0" bIns="0" rtlCol="0" anchor="t"/>
          <a:lstStyle/>
          <a:p>
            <a:pPr indent="0" marL="0">
              <a:buNone/>
            </a:pPr>
            <a:r>
              <a:rPr lang="en-US" sz="1400" dirty="0">
                <a:solidFill>
                  <a:schemeClr val="accent5"/>
                </a:solidFill>
              </a:rPr>
              <a:t>text used instead of blanks</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rPr>
              <a:t>Project Objectives</a:t>
            </a:r>
            <a:endParaRPr lang="en-US" sz="3400" dirty="0"/>
          </a:p>
        </p:txBody>
      </p:sp>
      <p:sp>
        <p:nvSpPr>
          <p:cNvPr id="3" name="Objective row 1"/>
          <p:cNvSpPr/>
          <p:nvPr/>
        </p:nvSpPr>
        <p:spPr>
          <a:xfrm>
            <a:off x="548640" y="1371600"/>
            <a:ext cx="11091672" cy="603504"/>
          </a:xfrm>
          <a:prstGeom prst="roundRect">
            <a:avLst>
              <a:gd name="adj" fmla="val 18182"/>
            </a:avLst>
          </a:prstGeom>
          <a:solidFill>
            <a:schemeClr val="bg2"/>
          </a:solidFill>
          <a:ln/>
          <a:effectLst>
            <a:outerShdw sx="100000" sy="100000" kx="0" ky="0" algn="bl" rotWithShape="0" blurRad="76200" dist="25400" dir="5400000">
              <a:srgbClr val="000000">
                <a:alpha val="12000"/>
              </a:srgbClr>
            </a:outerShdw>
          </a:effectLst>
        </p:spPr>
      </p:sp>
      <p:sp>
        <p:nvSpPr>
          <p:cNvPr id="4" name="Number 1"/>
          <p:cNvSpPr/>
          <p:nvPr/>
        </p:nvSpPr>
        <p:spPr>
          <a:xfrm>
            <a:off x="731520" y="1463040"/>
            <a:ext cx="420624" cy="420624"/>
          </a:xfrm>
          <a:prstGeom prst="ellipse">
            <a:avLst/>
          </a:prstGeom>
          <a:solidFill>
            <a:schemeClr val="accent1"/>
          </a:solidFill>
          <a:ln/>
        </p:spPr>
      </p:sp>
      <p:sp>
        <p:nvSpPr>
          <p:cNvPr id="5" name="Number 1 label"/>
          <p:cNvSpPr txBox="1"/>
          <p:nvPr/>
        </p:nvSpPr>
        <p:spPr>
          <a:xfrm>
            <a:off x="731520" y="146304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Objective 1"/>
          <p:cNvSpPr txBox="1"/>
          <p:nvPr/>
        </p:nvSpPr>
        <p:spPr>
          <a:xfrm>
            <a:off x="1417320" y="1371600"/>
            <a:ext cx="9966960" cy="603504"/>
          </a:xfrm>
          <a:prstGeom prst="rect">
            <a:avLst/>
          </a:prstGeom>
          <a:noFill/>
          <a:ln/>
        </p:spPr>
        <p:txBody>
          <a:bodyPr wrap="square" lIns="0" tIns="0" rIns="0" bIns="0" rtlCol="0" anchor="ctr"/>
          <a:lstStyle/>
          <a:p>
            <a:pPr indent="0" marL="0">
              <a:buNone/>
            </a:pPr>
            <a:r>
              <a:rPr lang="en-US" sz="1600" dirty="0">
                <a:solidFill>
                  <a:schemeClr val="tx1"/>
                </a:solidFill>
              </a:rPr>
              <a:t>Load, inspect and clean the World Bank WDI extract</a:t>
            </a:r>
            <a:endParaRPr lang="en-US" sz="1600" dirty="0"/>
          </a:p>
        </p:txBody>
      </p:sp>
      <p:sp>
        <p:nvSpPr>
          <p:cNvPr id="7" name="Objective row 2"/>
          <p:cNvSpPr/>
          <p:nvPr/>
        </p:nvSpPr>
        <p:spPr>
          <a:xfrm>
            <a:off x="548640" y="2084832"/>
            <a:ext cx="11091672" cy="603504"/>
          </a:xfrm>
          <a:prstGeom prst="roundRect">
            <a:avLst>
              <a:gd name="adj" fmla="val 18182"/>
            </a:avLst>
          </a:prstGeom>
          <a:solidFill>
            <a:schemeClr val="bg2"/>
          </a:solidFill>
          <a:ln/>
          <a:effectLst>
            <a:outerShdw sx="100000" sy="100000" kx="0" ky="0" algn="bl" rotWithShape="0" blurRad="76200" dist="25400" dir="5400000">
              <a:srgbClr val="000000">
                <a:alpha val="12000"/>
              </a:srgbClr>
            </a:outerShdw>
          </a:effectLst>
        </p:spPr>
      </p:sp>
      <p:sp>
        <p:nvSpPr>
          <p:cNvPr id="8" name="Number 2"/>
          <p:cNvSpPr/>
          <p:nvPr/>
        </p:nvSpPr>
        <p:spPr>
          <a:xfrm>
            <a:off x="731520" y="2176272"/>
            <a:ext cx="420624" cy="420624"/>
          </a:xfrm>
          <a:prstGeom prst="ellipse">
            <a:avLst/>
          </a:prstGeom>
          <a:solidFill>
            <a:schemeClr val="accent1"/>
          </a:solidFill>
          <a:ln/>
        </p:spPr>
      </p:sp>
      <p:sp>
        <p:nvSpPr>
          <p:cNvPr id="9" name="Number 2 label"/>
          <p:cNvSpPr txBox="1"/>
          <p:nvPr/>
        </p:nvSpPr>
        <p:spPr>
          <a:xfrm>
            <a:off x="731520" y="2176272"/>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Objective 2"/>
          <p:cNvSpPr txBox="1"/>
          <p:nvPr/>
        </p:nvSpPr>
        <p:spPr>
          <a:xfrm>
            <a:off x="1417320" y="2084832"/>
            <a:ext cx="9966960" cy="603504"/>
          </a:xfrm>
          <a:prstGeom prst="rect">
            <a:avLst/>
          </a:prstGeom>
          <a:noFill/>
          <a:ln/>
        </p:spPr>
        <p:txBody>
          <a:bodyPr wrap="square" lIns="0" tIns="0" rIns="0" bIns="0" rtlCol="0" anchor="ctr"/>
          <a:lstStyle/>
          <a:p>
            <a:pPr indent="0" marL="0">
              <a:buNone/>
            </a:pPr>
            <a:r>
              <a:rPr lang="en-US" sz="1600" dirty="0">
                <a:solidFill>
                  <a:schemeClr val="tx1"/>
                </a:solidFill>
              </a:rPr>
              <a:t>Reshape the data into long and country-year tables ready for analysis</a:t>
            </a:r>
            <a:endParaRPr lang="en-US" sz="1600" dirty="0"/>
          </a:p>
        </p:txBody>
      </p:sp>
      <p:sp>
        <p:nvSpPr>
          <p:cNvPr id="11" name="Objective row 3"/>
          <p:cNvSpPr/>
          <p:nvPr/>
        </p:nvSpPr>
        <p:spPr>
          <a:xfrm>
            <a:off x="548640" y="2798064"/>
            <a:ext cx="11091672" cy="603504"/>
          </a:xfrm>
          <a:prstGeom prst="roundRect">
            <a:avLst>
              <a:gd name="adj" fmla="val 18182"/>
            </a:avLst>
          </a:prstGeom>
          <a:solidFill>
            <a:schemeClr val="bg2"/>
          </a:solidFill>
          <a:ln/>
          <a:effectLst>
            <a:outerShdw sx="100000" sy="100000" kx="0" ky="0" algn="bl" rotWithShape="0" blurRad="76200" dist="25400" dir="5400000">
              <a:srgbClr val="000000">
                <a:alpha val="12000"/>
              </a:srgbClr>
            </a:outerShdw>
          </a:effectLst>
        </p:spPr>
      </p:sp>
      <p:sp>
        <p:nvSpPr>
          <p:cNvPr id="12" name="Number 3"/>
          <p:cNvSpPr/>
          <p:nvPr/>
        </p:nvSpPr>
        <p:spPr>
          <a:xfrm>
            <a:off x="731520" y="2889504"/>
            <a:ext cx="420624" cy="420624"/>
          </a:xfrm>
          <a:prstGeom prst="ellipse">
            <a:avLst/>
          </a:prstGeom>
          <a:solidFill>
            <a:schemeClr val="accent1"/>
          </a:solidFill>
          <a:ln/>
        </p:spPr>
      </p:sp>
      <p:sp>
        <p:nvSpPr>
          <p:cNvPr id="13" name="Number 3 label"/>
          <p:cNvSpPr txBox="1"/>
          <p:nvPr/>
        </p:nvSpPr>
        <p:spPr>
          <a:xfrm>
            <a:off x="731520" y="2889504"/>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4" name="Objective 3"/>
          <p:cNvSpPr txBox="1"/>
          <p:nvPr/>
        </p:nvSpPr>
        <p:spPr>
          <a:xfrm>
            <a:off x="1417320" y="2798064"/>
            <a:ext cx="9966960" cy="603504"/>
          </a:xfrm>
          <a:prstGeom prst="rect">
            <a:avLst/>
          </a:prstGeom>
          <a:noFill/>
          <a:ln/>
        </p:spPr>
        <p:txBody>
          <a:bodyPr wrap="square" lIns="0" tIns="0" rIns="0" bIns="0" rtlCol="0" anchor="ctr"/>
          <a:lstStyle/>
          <a:p>
            <a:pPr indent="0" marL="0">
              <a:buNone/>
            </a:pPr>
            <a:r>
              <a:rPr lang="en-US" sz="1600" dirty="0">
                <a:solidFill>
                  <a:schemeClr val="tx1"/>
                </a:solidFill>
              </a:rPr>
              <a:t>Compare GDP growth, inflation and living standards across 20 countries</a:t>
            </a:r>
            <a:endParaRPr lang="en-US" sz="1600" dirty="0"/>
          </a:p>
        </p:txBody>
      </p:sp>
      <p:sp>
        <p:nvSpPr>
          <p:cNvPr id="15" name="Objective row 4"/>
          <p:cNvSpPr/>
          <p:nvPr/>
        </p:nvSpPr>
        <p:spPr>
          <a:xfrm>
            <a:off x="548640" y="3511296"/>
            <a:ext cx="11091672" cy="603504"/>
          </a:xfrm>
          <a:prstGeom prst="roundRect">
            <a:avLst>
              <a:gd name="adj" fmla="val 18182"/>
            </a:avLst>
          </a:prstGeom>
          <a:solidFill>
            <a:schemeClr val="bg2"/>
          </a:solidFill>
          <a:ln/>
          <a:effectLst>
            <a:outerShdw sx="100000" sy="100000" kx="0" ky="0" algn="bl" rotWithShape="0" blurRad="76200" dist="25400" dir="5400000">
              <a:srgbClr val="000000">
                <a:alpha val="12000"/>
              </a:srgbClr>
            </a:outerShdw>
          </a:effectLst>
        </p:spPr>
      </p:sp>
      <p:sp>
        <p:nvSpPr>
          <p:cNvPr id="16" name="Number 4"/>
          <p:cNvSpPr/>
          <p:nvPr/>
        </p:nvSpPr>
        <p:spPr>
          <a:xfrm>
            <a:off x="731520" y="3602736"/>
            <a:ext cx="420624" cy="420624"/>
          </a:xfrm>
          <a:prstGeom prst="ellipse">
            <a:avLst/>
          </a:prstGeom>
          <a:solidFill>
            <a:schemeClr val="accent1"/>
          </a:solidFill>
          <a:ln/>
        </p:spPr>
      </p:sp>
      <p:sp>
        <p:nvSpPr>
          <p:cNvPr id="17" name="Number 4 label"/>
          <p:cNvSpPr txBox="1"/>
          <p:nvPr/>
        </p:nvSpPr>
        <p:spPr>
          <a:xfrm>
            <a:off x="731520" y="3602736"/>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8" name="Objective 4"/>
          <p:cNvSpPr txBox="1"/>
          <p:nvPr/>
        </p:nvSpPr>
        <p:spPr>
          <a:xfrm>
            <a:off x="1417320" y="3511296"/>
            <a:ext cx="9966960" cy="603504"/>
          </a:xfrm>
          <a:prstGeom prst="rect">
            <a:avLst/>
          </a:prstGeom>
          <a:noFill/>
          <a:ln/>
        </p:spPr>
        <p:txBody>
          <a:bodyPr wrap="square" lIns="0" tIns="0" rIns="0" bIns="0" rtlCol="0" anchor="ctr"/>
          <a:lstStyle/>
          <a:p>
            <a:pPr indent="0" marL="0">
              <a:buNone/>
            </a:pPr>
            <a:r>
              <a:rPr lang="en-US" sz="1600" dirty="0">
                <a:solidFill>
                  <a:schemeClr val="tx1"/>
                </a:solidFill>
              </a:rPr>
              <a:t>Measure the impact of COVID-19 and detect outliers</a:t>
            </a:r>
            <a:endParaRPr lang="en-US" sz="1600" dirty="0"/>
          </a:p>
        </p:txBody>
      </p:sp>
      <p:sp>
        <p:nvSpPr>
          <p:cNvPr id="19" name="Objective row 5"/>
          <p:cNvSpPr/>
          <p:nvPr/>
        </p:nvSpPr>
        <p:spPr>
          <a:xfrm>
            <a:off x="548640" y="4224528"/>
            <a:ext cx="11091672" cy="603504"/>
          </a:xfrm>
          <a:prstGeom prst="roundRect">
            <a:avLst>
              <a:gd name="adj" fmla="val 18182"/>
            </a:avLst>
          </a:prstGeom>
          <a:solidFill>
            <a:schemeClr val="bg2"/>
          </a:solidFill>
          <a:ln/>
          <a:effectLst>
            <a:outerShdw sx="100000" sy="100000" kx="0" ky="0" algn="bl" rotWithShape="0" blurRad="76200" dist="25400" dir="5400000">
              <a:srgbClr val="000000">
                <a:alpha val="12000"/>
              </a:srgbClr>
            </a:outerShdw>
          </a:effectLst>
        </p:spPr>
      </p:sp>
      <p:sp>
        <p:nvSpPr>
          <p:cNvPr id="20" name="Number 5"/>
          <p:cNvSpPr/>
          <p:nvPr/>
        </p:nvSpPr>
        <p:spPr>
          <a:xfrm>
            <a:off x="731520" y="4315968"/>
            <a:ext cx="420624" cy="420624"/>
          </a:xfrm>
          <a:prstGeom prst="ellipse">
            <a:avLst/>
          </a:prstGeom>
          <a:solidFill>
            <a:schemeClr val="accent1"/>
          </a:solidFill>
          <a:ln/>
        </p:spPr>
      </p:sp>
      <p:sp>
        <p:nvSpPr>
          <p:cNvPr id="21" name="Number 5 label"/>
          <p:cNvSpPr txBox="1"/>
          <p:nvPr/>
        </p:nvSpPr>
        <p:spPr>
          <a:xfrm>
            <a:off x="731520" y="431596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2" name="Objective 5"/>
          <p:cNvSpPr txBox="1"/>
          <p:nvPr/>
        </p:nvSpPr>
        <p:spPr>
          <a:xfrm>
            <a:off x="1417320" y="4224528"/>
            <a:ext cx="9966960" cy="603504"/>
          </a:xfrm>
          <a:prstGeom prst="rect">
            <a:avLst/>
          </a:prstGeom>
          <a:noFill/>
          <a:ln/>
        </p:spPr>
        <p:txBody>
          <a:bodyPr wrap="square" lIns="0" tIns="0" rIns="0" bIns="0" rtlCol="0" anchor="ctr"/>
          <a:lstStyle/>
          <a:p>
            <a:pPr indent="0" marL="0">
              <a:buNone/>
            </a:pPr>
            <a:r>
              <a:rPr lang="en-US" sz="1600" dirty="0">
                <a:solidFill>
                  <a:schemeClr val="tx1"/>
                </a:solidFill>
              </a:rPr>
              <a:t>Visualize the results and summarize the key insights</a:t>
            </a:r>
            <a:endParaRPr lang="en-US" sz="1600" dirty="0"/>
          </a:p>
        </p:txBody>
      </p:sp>
      <p:sp>
        <p:nvSpPr>
          <p:cNvPr id="23" name="Flow Collect"/>
          <p:cNvSpPr/>
          <p:nvPr/>
        </p:nvSpPr>
        <p:spPr>
          <a:xfrm>
            <a:off x="548640" y="5257800"/>
            <a:ext cx="1920240" cy="777240"/>
          </a:xfrm>
          <a:prstGeom prst="chevron">
            <a:avLst/>
          </a:prstGeom>
          <a:solidFill>
            <a:schemeClr val="accent1"/>
          </a:solidFill>
          <a:ln/>
        </p:spPr>
      </p:sp>
      <p:sp>
        <p:nvSpPr>
          <p:cNvPr id="24" name="Flow label Collect"/>
          <p:cNvSpPr txBox="1"/>
          <p:nvPr/>
        </p:nvSpPr>
        <p:spPr>
          <a:xfrm>
            <a:off x="868680" y="5257800"/>
            <a:ext cx="1280160" cy="777240"/>
          </a:xfrm>
          <a:prstGeom prst="rect">
            <a:avLst/>
          </a:prstGeom>
          <a:noFill/>
          <a:ln/>
        </p:spPr>
        <p:txBody>
          <a:bodyPr wrap="square" lIns="0" tIns="0" rIns="0" bIns="0" rtlCol="0" anchor="ctr"/>
          <a:lstStyle/>
          <a:p>
            <a:pPr algn="ctr" indent="0" marL="0">
              <a:buNone/>
            </a:pPr>
            <a:r>
              <a:rPr lang="en-US" sz="1400" b="1" dirty="0">
                <a:solidFill>
                  <a:schemeClr val="bg1"/>
                </a:solidFill>
              </a:rPr>
              <a:t>Collect</a:t>
            </a:r>
            <a:endParaRPr lang="en-US" sz="1400" dirty="0"/>
          </a:p>
        </p:txBody>
      </p:sp>
      <p:sp>
        <p:nvSpPr>
          <p:cNvPr id="25" name="Flow Clean"/>
          <p:cNvSpPr/>
          <p:nvPr/>
        </p:nvSpPr>
        <p:spPr>
          <a:xfrm>
            <a:off x="2404872" y="5257800"/>
            <a:ext cx="1920240" cy="777240"/>
          </a:xfrm>
          <a:prstGeom prst="chevron">
            <a:avLst/>
          </a:prstGeom>
          <a:solidFill>
            <a:schemeClr val="tx2"/>
          </a:solidFill>
          <a:ln/>
        </p:spPr>
      </p:sp>
      <p:sp>
        <p:nvSpPr>
          <p:cNvPr id="26" name="Flow label Clean"/>
          <p:cNvSpPr txBox="1"/>
          <p:nvPr/>
        </p:nvSpPr>
        <p:spPr>
          <a:xfrm>
            <a:off x="2724912" y="5257800"/>
            <a:ext cx="1280160" cy="777240"/>
          </a:xfrm>
          <a:prstGeom prst="rect">
            <a:avLst/>
          </a:prstGeom>
          <a:noFill/>
          <a:ln/>
        </p:spPr>
        <p:txBody>
          <a:bodyPr wrap="square" lIns="0" tIns="0" rIns="0" bIns="0" rtlCol="0" anchor="ctr"/>
          <a:lstStyle/>
          <a:p>
            <a:pPr algn="ctr" indent="0" marL="0">
              <a:buNone/>
            </a:pPr>
            <a:r>
              <a:rPr lang="en-US" sz="1400" b="1" dirty="0">
                <a:solidFill>
                  <a:schemeClr val="bg1"/>
                </a:solidFill>
              </a:rPr>
              <a:t>Clean</a:t>
            </a:r>
            <a:endParaRPr lang="en-US" sz="1400" dirty="0"/>
          </a:p>
        </p:txBody>
      </p:sp>
      <p:sp>
        <p:nvSpPr>
          <p:cNvPr id="27" name="Flow Transform"/>
          <p:cNvSpPr/>
          <p:nvPr/>
        </p:nvSpPr>
        <p:spPr>
          <a:xfrm>
            <a:off x="4261104" y="5257800"/>
            <a:ext cx="1920240" cy="777240"/>
          </a:xfrm>
          <a:prstGeom prst="chevron">
            <a:avLst/>
          </a:prstGeom>
          <a:solidFill>
            <a:schemeClr val="accent1"/>
          </a:solidFill>
          <a:ln/>
        </p:spPr>
      </p:sp>
      <p:sp>
        <p:nvSpPr>
          <p:cNvPr id="28" name="Flow label Transform"/>
          <p:cNvSpPr txBox="1"/>
          <p:nvPr/>
        </p:nvSpPr>
        <p:spPr>
          <a:xfrm>
            <a:off x="4581144" y="5257800"/>
            <a:ext cx="1280160" cy="777240"/>
          </a:xfrm>
          <a:prstGeom prst="rect">
            <a:avLst/>
          </a:prstGeom>
          <a:noFill/>
          <a:ln/>
        </p:spPr>
        <p:txBody>
          <a:bodyPr wrap="square" lIns="0" tIns="0" rIns="0" bIns="0" rtlCol="0" anchor="ctr"/>
          <a:lstStyle/>
          <a:p>
            <a:pPr algn="ctr" indent="0" marL="0">
              <a:buNone/>
            </a:pPr>
            <a:r>
              <a:rPr lang="en-US" sz="1400" b="1" dirty="0">
                <a:solidFill>
                  <a:schemeClr val="bg1"/>
                </a:solidFill>
              </a:rPr>
              <a:t>Transform</a:t>
            </a:r>
            <a:endParaRPr lang="en-US" sz="1400" dirty="0"/>
          </a:p>
        </p:txBody>
      </p:sp>
      <p:sp>
        <p:nvSpPr>
          <p:cNvPr id="29" name="Flow Analyze"/>
          <p:cNvSpPr/>
          <p:nvPr/>
        </p:nvSpPr>
        <p:spPr>
          <a:xfrm>
            <a:off x="6117336" y="5257800"/>
            <a:ext cx="1920240" cy="777240"/>
          </a:xfrm>
          <a:prstGeom prst="chevron">
            <a:avLst/>
          </a:prstGeom>
          <a:solidFill>
            <a:schemeClr val="tx2"/>
          </a:solidFill>
          <a:ln/>
        </p:spPr>
      </p:sp>
      <p:sp>
        <p:nvSpPr>
          <p:cNvPr id="30" name="Flow label Analyze"/>
          <p:cNvSpPr txBox="1"/>
          <p:nvPr/>
        </p:nvSpPr>
        <p:spPr>
          <a:xfrm>
            <a:off x="6437376" y="5257800"/>
            <a:ext cx="1280160" cy="777240"/>
          </a:xfrm>
          <a:prstGeom prst="rect">
            <a:avLst/>
          </a:prstGeom>
          <a:noFill/>
          <a:ln/>
        </p:spPr>
        <p:txBody>
          <a:bodyPr wrap="square" lIns="0" tIns="0" rIns="0" bIns="0" rtlCol="0" anchor="ctr"/>
          <a:lstStyle/>
          <a:p>
            <a:pPr algn="ctr" indent="0" marL="0">
              <a:buNone/>
            </a:pPr>
            <a:r>
              <a:rPr lang="en-US" sz="1400" b="1" dirty="0">
                <a:solidFill>
                  <a:schemeClr val="bg1"/>
                </a:solidFill>
              </a:rPr>
              <a:t>Analyze</a:t>
            </a:r>
            <a:endParaRPr lang="en-US" sz="1400" dirty="0"/>
          </a:p>
        </p:txBody>
      </p:sp>
      <p:sp>
        <p:nvSpPr>
          <p:cNvPr id="31" name="Flow Visualize"/>
          <p:cNvSpPr/>
          <p:nvPr/>
        </p:nvSpPr>
        <p:spPr>
          <a:xfrm>
            <a:off x="7973568" y="5257800"/>
            <a:ext cx="1920240" cy="777240"/>
          </a:xfrm>
          <a:prstGeom prst="chevron">
            <a:avLst/>
          </a:prstGeom>
          <a:solidFill>
            <a:schemeClr val="accent1"/>
          </a:solidFill>
          <a:ln/>
        </p:spPr>
      </p:sp>
      <p:sp>
        <p:nvSpPr>
          <p:cNvPr id="32" name="Flow label Visualize"/>
          <p:cNvSpPr txBox="1"/>
          <p:nvPr/>
        </p:nvSpPr>
        <p:spPr>
          <a:xfrm>
            <a:off x="8293608" y="5257800"/>
            <a:ext cx="1280160" cy="777240"/>
          </a:xfrm>
          <a:prstGeom prst="rect">
            <a:avLst/>
          </a:prstGeom>
          <a:noFill/>
          <a:ln/>
        </p:spPr>
        <p:txBody>
          <a:bodyPr wrap="square" lIns="0" tIns="0" rIns="0" bIns="0" rtlCol="0" anchor="ctr"/>
          <a:lstStyle/>
          <a:p>
            <a:pPr algn="ctr" indent="0" marL="0">
              <a:buNone/>
            </a:pPr>
            <a:r>
              <a:rPr lang="en-US" sz="1400" b="1" dirty="0">
                <a:solidFill>
                  <a:schemeClr val="bg1"/>
                </a:solidFill>
              </a:rPr>
              <a:t>Visualize</a:t>
            </a:r>
            <a:endParaRPr lang="en-US" sz="1400" dirty="0"/>
          </a:p>
        </p:txBody>
      </p:sp>
      <p:sp>
        <p:nvSpPr>
          <p:cNvPr id="33" name="Flow Insights"/>
          <p:cNvSpPr/>
          <p:nvPr/>
        </p:nvSpPr>
        <p:spPr>
          <a:xfrm>
            <a:off x="9829800" y="5257800"/>
            <a:ext cx="1920240" cy="777240"/>
          </a:xfrm>
          <a:prstGeom prst="chevron">
            <a:avLst/>
          </a:prstGeom>
          <a:solidFill>
            <a:schemeClr val="tx2"/>
          </a:solidFill>
          <a:ln/>
        </p:spPr>
      </p:sp>
      <p:sp>
        <p:nvSpPr>
          <p:cNvPr id="34" name="Flow label Insights"/>
          <p:cNvSpPr txBox="1"/>
          <p:nvPr/>
        </p:nvSpPr>
        <p:spPr>
          <a:xfrm>
            <a:off x="10149840" y="5257800"/>
            <a:ext cx="1280160" cy="777240"/>
          </a:xfrm>
          <a:prstGeom prst="rect">
            <a:avLst/>
          </a:prstGeom>
          <a:noFill/>
          <a:ln/>
        </p:spPr>
        <p:txBody>
          <a:bodyPr wrap="square" lIns="0" tIns="0" rIns="0" bIns="0" rtlCol="0" anchor="ctr"/>
          <a:lstStyle/>
          <a:p>
            <a:pPr algn="ctr" indent="0" marL="0">
              <a:buNone/>
            </a:pPr>
            <a:r>
              <a:rPr lang="en-US" sz="1400" b="1" dirty="0">
                <a:solidFill>
                  <a:schemeClr val="bg1"/>
                </a:solidFill>
              </a:rPr>
              <a:t>Insights</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rPr>
              <a:t>Proposed Solution &amp; Analysis Questions</a:t>
            </a:r>
            <a:endParaRPr lang="en-US" sz="3400" dirty="0"/>
          </a:p>
        </p:txBody>
      </p:sp>
      <p:sp>
        <p:nvSpPr>
          <p:cNvPr id="3" name="Solution card"/>
          <p:cNvSpPr/>
          <p:nvPr/>
        </p:nvSpPr>
        <p:spPr>
          <a:xfrm>
            <a:off x="548640" y="1371600"/>
            <a:ext cx="4480560" cy="4754880"/>
          </a:xfrm>
          <a:prstGeom prst="roundRect">
            <a:avLst>
              <a:gd name="adj" fmla="val 2449"/>
            </a:avLst>
          </a:prstGeom>
          <a:solidFill>
            <a:schemeClr val="tx2"/>
          </a:solidFill>
          <a:ln/>
          <a:effectLst>
            <a:outerShdw sx="100000" sy="100000" kx="0" ky="0" algn="bl" rotWithShape="0" blurRad="76200" dist="25400" dir="5400000">
              <a:srgbClr val="000000">
                <a:alpha val="12000"/>
              </a:srgbClr>
            </a:outerShdw>
          </a:effectLst>
        </p:spPr>
      </p:sp>
      <p:sp>
        <p:nvSpPr>
          <p:cNvPr id="4" name="Solution heading"/>
          <p:cNvSpPr txBox="1"/>
          <p:nvPr/>
        </p:nvSpPr>
        <p:spPr>
          <a:xfrm>
            <a:off x="822960" y="1600200"/>
            <a:ext cx="3931920" cy="411480"/>
          </a:xfrm>
          <a:prstGeom prst="rect">
            <a:avLst/>
          </a:prstGeom>
          <a:noFill/>
          <a:ln/>
        </p:spPr>
        <p:txBody>
          <a:bodyPr wrap="square" lIns="0" tIns="0" rIns="0" bIns="0" rtlCol="0" anchor="t"/>
          <a:lstStyle/>
          <a:p>
            <a:pPr indent="0" marL="0">
              <a:buNone/>
            </a:pPr>
            <a:r>
              <a:rPr lang="en-US" sz="2000" b="1" dirty="0">
                <a:solidFill>
                  <a:schemeClr val="accent2"/>
                </a:solidFill>
              </a:rPr>
              <a:t>Proposed solution</a:t>
            </a:r>
            <a:endParaRPr lang="en-US" sz="2000" dirty="0"/>
          </a:p>
        </p:txBody>
      </p:sp>
      <p:sp>
        <p:nvSpPr>
          <p:cNvPr id="5" name="Solution bullets"/>
          <p:cNvSpPr txBox="1"/>
          <p:nvPr/>
        </p:nvSpPr>
        <p:spPr>
          <a:xfrm>
            <a:off x="822960" y="2148840"/>
            <a:ext cx="3931920" cy="374904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chemeClr val="bg1"/>
                </a:solidFill>
              </a:rPr>
              <a:t>Clean the World Bank extract and reshape it into a country-year table</a:t>
            </a:r>
            <a:endParaRPr lang="en-US" sz="1600" dirty="0"/>
          </a:p>
          <a:p>
            <a:pPr marL="342900" indent="-342900">
              <a:spcAft>
                <a:spcPts val="1400"/>
              </a:spcAft>
              <a:buSzPct val="100000"/>
              <a:buChar char="•"/>
            </a:pPr>
            <a:r>
              <a:rPr lang="en-US" sz="1600" dirty="0">
                <a:solidFill>
                  <a:schemeClr val="bg1"/>
                </a:solidFill>
              </a:rPr>
              <a:t>Use Pandas and NumPy to group, aggregate, compare and correlate indicators</a:t>
            </a:r>
            <a:endParaRPr lang="en-US" sz="1600" dirty="0"/>
          </a:p>
          <a:p>
            <a:pPr marL="342900" indent="-342900">
              <a:spcAft>
                <a:spcPts val="1400"/>
              </a:spcAft>
              <a:buSzPct val="100000"/>
              <a:buChar char="•"/>
            </a:pPr>
            <a:r>
              <a:rPr lang="en-US" sz="1600" dirty="0">
                <a:solidFill>
                  <a:schemeClr val="bg1"/>
                </a:solidFill>
              </a:rPr>
              <a:t>Use Matplotlib and Seaborn to show trends, categories, distributions and relationships</a:t>
            </a:r>
            <a:endParaRPr lang="en-US" sz="1600" dirty="0"/>
          </a:p>
          <a:p>
            <a:pPr marL="342900" indent="-342900">
              <a:spcAft>
                <a:spcPts val="1400"/>
              </a:spcAft>
              <a:buSzPct val="100000"/>
              <a:buChar char="•"/>
            </a:pPr>
            <a:r>
              <a:rPr lang="en-US" sz="1600" dirty="0">
                <a:solidFill>
                  <a:schemeClr val="bg1"/>
                </a:solidFill>
              </a:rPr>
              <a:t>Python makes the work repeatable: 10,400 values handled in a few lines</a:t>
            </a:r>
            <a:endParaRPr lang="en-US" sz="1600" dirty="0"/>
          </a:p>
        </p:txBody>
      </p:sp>
      <p:sp>
        <p:nvSpPr>
          <p:cNvPr id="6" name="Question card 1"/>
          <p:cNvSpPr/>
          <p:nvPr/>
        </p:nvSpPr>
        <p:spPr>
          <a:xfrm>
            <a:off x="5303520" y="1371600"/>
            <a:ext cx="3063240" cy="1481328"/>
          </a:xfrm>
          <a:prstGeom prst="roundRect">
            <a:avLst>
              <a:gd name="adj" fmla="val 7407"/>
            </a:avLst>
          </a:prstGeom>
          <a:solidFill>
            <a:schemeClr val="bg2"/>
          </a:solidFill>
          <a:ln/>
          <a:effectLst>
            <a:outerShdw sx="100000" sy="100000" kx="0" ky="0" algn="bl" rotWithShape="0" blurRad="76200" dist="25400" dir="5400000">
              <a:srgbClr val="000000">
                <a:alpha val="12000"/>
              </a:srgbClr>
            </a:outerShdw>
          </a:effectLst>
        </p:spPr>
      </p:sp>
      <p:sp>
        <p:nvSpPr>
          <p:cNvPr id="7" name="Number 1"/>
          <p:cNvSpPr/>
          <p:nvPr/>
        </p:nvSpPr>
        <p:spPr>
          <a:xfrm>
            <a:off x="5486400" y="1554480"/>
            <a:ext cx="420624" cy="420624"/>
          </a:xfrm>
          <a:prstGeom prst="ellipse">
            <a:avLst/>
          </a:prstGeom>
          <a:solidFill>
            <a:schemeClr val="accent1"/>
          </a:solidFill>
          <a:ln/>
        </p:spPr>
      </p:sp>
      <p:sp>
        <p:nvSpPr>
          <p:cNvPr id="8" name="Number 1 label"/>
          <p:cNvSpPr txBox="1"/>
          <p:nvPr/>
        </p:nvSpPr>
        <p:spPr>
          <a:xfrm>
            <a:off x="5486400" y="155448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9" name="Question 1"/>
          <p:cNvSpPr txBox="1"/>
          <p:nvPr/>
        </p:nvSpPr>
        <p:spPr>
          <a:xfrm>
            <a:off x="5486400" y="2084832"/>
            <a:ext cx="2697480" cy="731520"/>
          </a:xfrm>
          <a:prstGeom prst="rect">
            <a:avLst/>
          </a:prstGeom>
          <a:noFill/>
          <a:ln/>
        </p:spPr>
        <p:txBody>
          <a:bodyPr wrap="square" lIns="0" tIns="0" rIns="0" bIns="0" rtlCol="0" anchor="t"/>
          <a:lstStyle/>
          <a:p>
            <a:pPr indent="0" marL="0">
              <a:buNone/>
            </a:pPr>
            <a:r>
              <a:rPr lang="en-US" sz="1400" dirty="0">
                <a:solidFill>
                  <a:schemeClr val="tx1"/>
                </a:solidFill>
              </a:rPr>
              <a:t>How is GDP growth distributed across the 200 country-years?</a:t>
            </a:r>
            <a:endParaRPr lang="en-US" sz="1400" dirty="0"/>
          </a:p>
        </p:txBody>
      </p:sp>
      <p:sp>
        <p:nvSpPr>
          <p:cNvPr id="10" name="Question card 2"/>
          <p:cNvSpPr/>
          <p:nvPr/>
        </p:nvSpPr>
        <p:spPr>
          <a:xfrm>
            <a:off x="8503920" y="1371600"/>
            <a:ext cx="3063240" cy="1481328"/>
          </a:xfrm>
          <a:prstGeom prst="roundRect">
            <a:avLst>
              <a:gd name="adj" fmla="val 7407"/>
            </a:avLst>
          </a:prstGeom>
          <a:solidFill>
            <a:schemeClr val="bg2"/>
          </a:solidFill>
          <a:ln/>
          <a:effectLst>
            <a:outerShdw sx="100000" sy="100000" kx="0" ky="0" algn="bl" rotWithShape="0" blurRad="76200" dist="25400" dir="5400000">
              <a:srgbClr val="000000">
                <a:alpha val="12000"/>
              </a:srgbClr>
            </a:outerShdw>
          </a:effectLst>
        </p:spPr>
      </p:sp>
      <p:sp>
        <p:nvSpPr>
          <p:cNvPr id="11" name="Number 2"/>
          <p:cNvSpPr/>
          <p:nvPr/>
        </p:nvSpPr>
        <p:spPr>
          <a:xfrm>
            <a:off x="8686800" y="1554480"/>
            <a:ext cx="420624" cy="420624"/>
          </a:xfrm>
          <a:prstGeom prst="ellipse">
            <a:avLst/>
          </a:prstGeom>
          <a:solidFill>
            <a:schemeClr val="accent1"/>
          </a:solidFill>
          <a:ln/>
        </p:spPr>
      </p:sp>
      <p:sp>
        <p:nvSpPr>
          <p:cNvPr id="12" name="Number 2 label"/>
          <p:cNvSpPr txBox="1"/>
          <p:nvPr/>
        </p:nvSpPr>
        <p:spPr>
          <a:xfrm>
            <a:off x="8686800" y="155448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Question 2"/>
          <p:cNvSpPr txBox="1"/>
          <p:nvPr/>
        </p:nvSpPr>
        <p:spPr>
          <a:xfrm>
            <a:off x="8686800" y="2084832"/>
            <a:ext cx="2697480" cy="731520"/>
          </a:xfrm>
          <a:prstGeom prst="rect">
            <a:avLst/>
          </a:prstGeom>
          <a:noFill/>
          <a:ln/>
        </p:spPr>
        <p:txBody>
          <a:bodyPr wrap="square" lIns="0" tIns="0" rIns="0" bIns="0" rtlCol="0" anchor="t"/>
          <a:lstStyle/>
          <a:p>
            <a:pPr indent="0" marL="0">
              <a:buNone/>
            </a:pPr>
            <a:r>
              <a:rPr lang="en-US" sz="1400" dirty="0">
                <a:solidFill>
                  <a:schemeClr val="tx1"/>
                </a:solidFill>
              </a:rPr>
              <a:t>How did average GDP growth change from 2016 to 2025?</a:t>
            </a:r>
            <a:endParaRPr lang="en-US" sz="1400" dirty="0"/>
          </a:p>
        </p:txBody>
      </p:sp>
      <p:sp>
        <p:nvSpPr>
          <p:cNvPr id="14" name="Question card 3"/>
          <p:cNvSpPr/>
          <p:nvPr/>
        </p:nvSpPr>
        <p:spPr>
          <a:xfrm>
            <a:off x="5303520" y="2990088"/>
            <a:ext cx="3063240" cy="1481328"/>
          </a:xfrm>
          <a:prstGeom prst="roundRect">
            <a:avLst>
              <a:gd name="adj" fmla="val 7407"/>
            </a:avLst>
          </a:prstGeom>
          <a:solidFill>
            <a:schemeClr val="bg2"/>
          </a:solidFill>
          <a:ln/>
          <a:effectLst>
            <a:outerShdw sx="100000" sy="100000" kx="0" ky="0" algn="bl" rotWithShape="0" blurRad="76200" dist="25400" dir="5400000">
              <a:srgbClr val="000000">
                <a:alpha val="12000"/>
              </a:srgbClr>
            </a:outerShdw>
          </a:effectLst>
        </p:spPr>
      </p:sp>
      <p:sp>
        <p:nvSpPr>
          <p:cNvPr id="15" name="Number 3"/>
          <p:cNvSpPr/>
          <p:nvPr/>
        </p:nvSpPr>
        <p:spPr>
          <a:xfrm>
            <a:off x="5486400" y="3172968"/>
            <a:ext cx="420624" cy="420624"/>
          </a:xfrm>
          <a:prstGeom prst="ellipse">
            <a:avLst/>
          </a:prstGeom>
          <a:solidFill>
            <a:schemeClr val="accent1"/>
          </a:solidFill>
          <a:ln/>
        </p:spPr>
      </p:sp>
      <p:sp>
        <p:nvSpPr>
          <p:cNvPr id="16" name="Number 3 label"/>
          <p:cNvSpPr txBox="1"/>
          <p:nvPr/>
        </p:nvSpPr>
        <p:spPr>
          <a:xfrm>
            <a:off x="5486400" y="317296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Question 3"/>
          <p:cNvSpPr txBox="1"/>
          <p:nvPr/>
        </p:nvSpPr>
        <p:spPr>
          <a:xfrm>
            <a:off x="5486400" y="3703320"/>
            <a:ext cx="2697480" cy="731520"/>
          </a:xfrm>
          <a:prstGeom prst="rect">
            <a:avLst/>
          </a:prstGeom>
          <a:noFill/>
          <a:ln/>
        </p:spPr>
        <p:txBody>
          <a:bodyPr wrap="square" lIns="0" tIns="0" rIns="0" bIns="0" rtlCol="0" anchor="t"/>
          <a:lstStyle/>
          <a:p>
            <a:pPr indent="0" marL="0">
              <a:buNone/>
            </a:pPr>
            <a:r>
              <a:rPr lang="en-US" sz="1400" dirty="0">
                <a:solidFill>
                  <a:schemeClr val="tx1"/>
                </a:solidFill>
              </a:rPr>
              <a:t>How badly did COVID-19 hit GDP growth in each country?</a:t>
            </a:r>
            <a:endParaRPr lang="en-US" sz="1400" dirty="0"/>
          </a:p>
        </p:txBody>
      </p:sp>
      <p:sp>
        <p:nvSpPr>
          <p:cNvPr id="18" name="Question card 4"/>
          <p:cNvSpPr/>
          <p:nvPr/>
        </p:nvSpPr>
        <p:spPr>
          <a:xfrm>
            <a:off x="8503920" y="2990088"/>
            <a:ext cx="3063240" cy="1481328"/>
          </a:xfrm>
          <a:prstGeom prst="roundRect">
            <a:avLst>
              <a:gd name="adj" fmla="val 7407"/>
            </a:avLst>
          </a:prstGeom>
          <a:solidFill>
            <a:schemeClr val="bg2"/>
          </a:solidFill>
          <a:ln/>
          <a:effectLst>
            <a:outerShdw sx="100000" sy="100000" kx="0" ky="0" algn="bl" rotWithShape="0" blurRad="76200" dist="25400" dir="5400000">
              <a:srgbClr val="000000">
                <a:alpha val="12000"/>
              </a:srgbClr>
            </a:outerShdw>
          </a:effectLst>
        </p:spPr>
      </p:sp>
      <p:sp>
        <p:nvSpPr>
          <p:cNvPr id="19" name="Number 4"/>
          <p:cNvSpPr/>
          <p:nvPr/>
        </p:nvSpPr>
        <p:spPr>
          <a:xfrm>
            <a:off x="8686800" y="3172968"/>
            <a:ext cx="420624" cy="420624"/>
          </a:xfrm>
          <a:prstGeom prst="ellipse">
            <a:avLst/>
          </a:prstGeom>
          <a:solidFill>
            <a:schemeClr val="accent1"/>
          </a:solidFill>
          <a:ln/>
        </p:spPr>
      </p:sp>
      <p:sp>
        <p:nvSpPr>
          <p:cNvPr id="20" name="Number 4 label"/>
          <p:cNvSpPr txBox="1"/>
          <p:nvPr/>
        </p:nvSpPr>
        <p:spPr>
          <a:xfrm>
            <a:off x="8686800" y="3172968"/>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Question 4"/>
          <p:cNvSpPr txBox="1"/>
          <p:nvPr/>
        </p:nvSpPr>
        <p:spPr>
          <a:xfrm>
            <a:off x="8686800" y="3703320"/>
            <a:ext cx="2697480" cy="731520"/>
          </a:xfrm>
          <a:prstGeom prst="rect">
            <a:avLst/>
          </a:prstGeom>
          <a:noFill/>
          <a:ln/>
        </p:spPr>
        <p:txBody>
          <a:bodyPr wrap="square" lIns="0" tIns="0" rIns="0" bIns="0" rtlCol="0" anchor="t"/>
          <a:lstStyle/>
          <a:p>
            <a:pPr indent="0" marL="0">
              <a:buNone/>
            </a:pPr>
            <a:r>
              <a:rPr lang="en-US" sz="1400" dirty="0">
                <a:solidFill>
                  <a:schemeClr val="tx1"/>
                </a:solidFill>
              </a:rPr>
              <a:t>Which inflation and GDP growth values are outliers?</a:t>
            </a:r>
            <a:endParaRPr lang="en-US" sz="1400" dirty="0"/>
          </a:p>
        </p:txBody>
      </p:sp>
      <p:sp>
        <p:nvSpPr>
          <p:cNvPr id="22" name="Question card 5"/>
          <p:cNvSpPr/>
          <p:nvPr/>
        </p:nvSpPr>
        <p:spPr>
          <a:xfrm>
            <a:off x="5303520" y="4608576"/>
            <a:ext cx="3063240" cy="1481328"/>
          </a:xfrm>
          <a:prstGeom prst="roundRect">
            <a:avLst>
              <a:gd name="adj" fmla="val 7407"/>
            </a:avLst>
          </a:prstGeom>
          <a:solidFill>
            <a:schemeClr val="bg2"/>
          </a:solidFill>
          <a:ln/>
          <a:effectLst>
            <a:outerShdw sx="100000" sy="100000" kx="0" ky="0" algn="bl" rotWithShape="0" blurRad="76200" dist="25400" dir="5400000">
              <a:srgbClr val="000000">
                <a:alpha val="12000"/>
              </a:srgbClr>
            </a:outerShdw>
          </a:effectLst>
        </p:spPr>
      </p:sp>
      <p:sp>
        <p:nvSpPr>
          <p:cNvPr id="23" name="Number 5"/>
          <p:cNvSpPr/>
          <p:nvPr/>
        </p:nvSpPr>
        <p:spPr>
          <a:xfrm>
            <a:off x="5486400" y="4791456"/>
            <a:ext cx="420624" cy="420624"/>
          </a:xfrm>
          <a:prstGeom prst="ellipse">
            <a:avLst/>
          </a:prstGeom>
          <a:solidFill>
            <a:schemeClr val="accent1"/>
          </a:solidFill>
          <a:ln/>
        </p:spPr>
      </p:sp>
      <p:sp>
        <p:nvSpPr>
          <p:cNvPr id="24" name="Number 5 label"/>
          <p:cNvSpPr txBox="1"/>
          <p:nvPr/>
        </p:nvSpPr>
        <p:spPr>
          <a:xfrm>
            <a:off x="5486400" y="4791456"/>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5" name="Question 5"/>
          <p:cNvSpPr txBox="1"/>
          <p:nvPr/>
        </p:nvSpPr>
        <p:spPr>
          <a:xfrm>
            <a:off x="5486400" y="5321808"/>
            <a:ext cx="2697480" cy="731520"/>
          </a:xfrm>
          <a:prstGeom prst="rect">
            <a:avLst/>
          </a:prstGeom>
          <a:noFill/>
          <a:ln/>
        </p:spPr>
        <p:txBody>
          <a:bodyPr wrap="square" lIns="0" tIns="0" rIns="0" bIns="0" rtlCol="0" anchor="t"/>
          <a:lstStyle/>
          <a:p>
            <a:pPr indent="0" marL="0">
              <a:buNone/>
            </a:pPr>
            <a:r>
              <a:rPr lang="en-US" sz="1400" dirty="0">
                <a:solidFill>
                  <a:schemeClr val="tx1"/>
                </a:solidFill>
              </a:rPr>
              <a:t>How do Lower, Middle and Upper income tiers compare?</a:t>
            </a:r>
            <a:endParaRPr lang="en-US" sz="1400" dirty="0"/>
          </a:p>
        </p:txBody>
      </p:sp>
      <p:sp>
        <p:nvSpPr>
          <p:cNvPr id="26" name="Question card 6"/>
          <p:cNvSpPr/>
          <p:nvPr/>
        </p:nvSpPr>
        <p:spPr>
          <a:xfrm>
            <a:off x="8503920" y="4608576"/>
            <a:ext cx="3063240" cy="1481328"/>
          </a:xfrm>
          <a:prstGeom prst="roundRect">
            <a:avLst>
              <a:gd name="adj" fmla="val 7407"/>
            </a:avLst>
          </a:prstGeom>
          <a:solidFill>
            <a:schemeClr val="bg2"/>
          </a:solidFill>
          <a:ln/>
          <a:effectLst>
            <a:outerShdw sx="100000" sy="100000" kx="0" ky="0" algn="bl" rotWithShape="0" blurRad="76200" dist="25400" dir="5400000">
              <a:srgbClr val="000000">
                <a:alpha val="12000"/>
              </a:srgbClr>
            </a:outerShdw>
          </a:effectLst>
        </p:spPr>
      </p:sp>
      <p:sp>
        <p:nvSpPr>
          <p:cNvPr id="27" name="Number 6"/>
          <p:cNvSpPr/>
          <p:nvPr/>
        </p:nvSpPr>
        <p:spPr>
          <a:xfrm>
            <a:off x="8686800" y="4791456"/>
            <a:ext cx="420624" cy="420624"/>
          </a:xfrm>
          <a:prstGeom prst="ellipse">
            <a:avLst/>
          </a:prstGeom>
          <a:solidFill>
            <a:schemeClr val="accent1"/>
          </a:solidFill>
          <a:ln/>
        </p:spPr>
      </p:sp>
      <p:sp>
        <p:nvSpPr>
          <p:cNvPr id="28" name="Number 6 label"/>
          <p:cNvSpPr txBox="1"/>
          <p:nvPr/>
        </p:nvSpPr>
        <p:spPr>
          <a:xfrm>
            <a:off x="8686800" y="4791456"/>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29" name="Question 6"/>
          <p:cNvSpPr txBox="1"/>
          <p:nvPr/>
        </p:nvSpPr>
        <p:spPr>
          <a:xfrm>
            <a:off x="8686800" y="5321808"/>
            <a:ext cx="2697480" cy="731520"/>
          </a:xfrm>
          <a:prstGeom prst="rect">
            <a:avLst/>
          </a:prstGeom>
          <a:noFill/>
          <a:ln/>
        </p:spPr>
        <p:txBody>
          <a:bodyPr wrap="square" lIns="0" tIns="0" rIns="0" bIns="0" rtlCol="0" anchor="t"/>
          <a:lstStyle/>
          <a:p>
            <a:pPr indent="0" marL="0">
              <a:buNone/>
            </a:pPr>
            <a:r>
              <a:rPr lang="en-US" sz="1400" dirty="0">
                <a:solidFill>
                  <a:schemeClr val="tx1"/>
                </a:solidFill>
              </a:rPr>
              <a:t>Which indicators move together most strongly?</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rPr>
              <a:t>Dataset Information</a:t>
            </a:r>
            <a:endParaRPr lang="en-US" sz="3400" dirty="0"/>
          </a:p>
        </p:txBody>
      </p:sp>
      <p:graphicFrame>
        <p:nvGraphicFramePr>
          <p:cNvPr id="7" name="Dataset facts table"/>
          <p:cNvGraphicFramePr>
            <a:graphicFrameLocks noGrp="1"/>
          </p:cNvGraphicFramePr>
          <p:nvPr>
            <p:extLst>
              <p:ext uri="{D42A27DB-BD31-4B8C-83A1-F6EECF244321}">
                <p14:modId xmlns:p14="http://schemas.microsoft.com/office/powerpoint/2010/main" val="1579011935"/>
              </p:ext>
            </p:extLst>
          </p:nvPr>
        </p:nvGraphicFramePr>
        <p:xfrm>
          <a:off x="548640" y="1371600"/>
          <a:ext cx="6583680" cy="914400"/>
        </p:xfrm>
        <a:graphic>
          <a:graphicData uri="http://schemas.openxmlformats.org/drawingml/2006/table">
            <a:tbl>
              <a:tblPr/>
              <a:tblGrid>
                <a:gridCol w="1737360"/>
                <a:gridCol w="4846320"/>
              </a:tblGrid>
              <a:tr h="475488">
                <a:tc>
                  <a:txBody>
                    <a:bodyPr/>
                    <a:lstStyle/>
                    <a:p>
                      <a:pPr indent="0" marL="0">
                        <a:buNone/>
                      </a:pPr>
                      <a:r>
                        <a:rPr lang="en-US" sz="1400" b="1" dirty="0">
                          <a:solidFill>
                            <a:schemeClr val="bg1"/>
                          </a:solidFill>
                        </a:rPr>
                        <a:t>Item</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400" b="1" dirty="0">
                          <a:solidFill>
                            <a:schemeClr val="bg1"/>
                          </a:solidFill>
                        </a:rPr>
                        <a:t>Details</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tx2"/>
                    </a:solidFill>
                  </a:tcPr>
                </a:tc>
              </a:tr>
              <a:tr h="475488">
                <a:tc>
                  <a:txBody>
                    <a:bodyPr/>
                    <a:lstStyle/>
                    <a:p>
                      <a:pPr indent="0" marL="0">
                        <a:buNone/>
                      </a:pPr>
                      <a:r>
                        <a:rPr lang="en-US" sz="1400" b="1" dirty="0">
                          <a:solidFill>
                            <a:schemeClr val="tx2"/>
                          </a:solidFill>
                        </a:rPr>
                        <a:t>Dataset name</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World Development Indicators (WDI) extract</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r>
              <a:tr h="475488">
                <a:tc>
                  <a:txBody>
                    <a:bodyPr/>
                    <a:lstStyle/>
                    <a:p>
                      <a:pPr indent="0" marL="0">
                        <a:buNone/>
                      </a:pPr>
                      <a:r>
                        <a:rPr lang="en-US" sz="1400" b="1" dirty="0">
                          <a:solidFill>
                            <a:schemeClr val="tx2"/>
                          </a:solidFill>
                        </a:rPr>
                        <a:t>Source</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World Bank DataBank (databank.worldbank.org)</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1"/>
                    </a:solidFill>
                  </a:tcPr>
                </a:tc>
              </a:tr>
              <a:tr h="475488">
                <a:tc>
                  <a:txBody>
                    <a:bodyPr/>
                    <a:lstStyle/>
                    <a:p>
                      <a:pPr indent="0" marL="0">
                        <a:buNone/>
                      </a:pPr>
                      <a:r>
                        <a:rPr lang="en-US" sz="1400" b="1" dirty="0">
                          <a:solidFill>
                            <a:schemeClr val="tx2"/>
                          </a:solidFill>
                        </a:rPr>
                        <a:t>File format</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CSV (WDI-1.csv)</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r>
              <a:tr h="475488">
                <a:tc>
                  <a:txBody>
                    <a:bodyPr/>
                    <a:lstStyle/>
                    <a:p>
                      <a:pPr indent="0" marL="0">
                        <a:buNone/>
                      </a:pPr>
                      <a:r>
                        <a:rPr lang="en-US" sz="1400" b="1" dirty="0">
                          <a:solidFill>
                            <a:schemeClr val="tx2"/>
                          </a:solidFill>
                        </a:rPr>
                        <a:t>Rows</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1,045 in file (1,040 data rows + 5 footer rows)</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1"/>
                    </a:solidFill>
                  </a:tcPr>
                </a:tc>
              </a:tr>
              <a:tr h="475488">
                <a:tc>
                  <a:txBody>
                    <a:bodyPr/>
                    <a:lstStyle/>
                    <a:p>
                      <a:pPr indent="0" marL="0">
                        <a:buNone/>
                      </a:pPr>
                      <a:r>
                        <a:rPr lang="en-US" sz="1400" b="1" dirty="0">
                          <a:solidFill>
                            <a:schemeClr val="tx2"/>
                          </a:solidFill>
                        </a:rPr>
                        <a:t>Columns</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14 (4 identifiers + 10 year columns)</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r>
              <a:tr h="475488">
                <a:tc>
                  <a:txBody>
                    <a:bodyPr/>
                    <a:lstStyle/>
                    <a:p>
                      <a:pPr indent="0" marL="0">
                        <a:buNone/>
                      </a:pPr>
                      <a:r>
                        <a:rPr lang="en-US" sz="1400" b="1" dirty="0">
                          <a:solidFill>
                            <a:schemeClr val="tx2"/>
                          </a:solidFill>
                        </a:rPr>
                        <a:t>Coverage</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20 countries, 52 indicators, 2016 to 2025</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1"/>
                    </a:solidFill>
                  </a:tcPr>
                </a:tc>
              </a:tr>
              <a:tr h="475488">
                <a:tc>
                  <a:txBody>
                    <a:bodyPr/>
                    <a:lstStyle/>
                    <a:p>
                      <a:pPr indent="0" marL="0">
                        <a:buNone/>
                      </a:pPr>
                      <a:r>
                        <a:rPr lang="en-US" sz="1400" b="1" dirty="0">
                          <a:solidFill>
                            <a:schemeClr val="tx2"/>
                          </a:solidFill>
                        </a:rPr>
                        <a:t>After cleaning</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10,400 x 6 (long) and 200 x 19 (country-year)</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4" name="Features card"/>
          <p:cNvSpPr/>
          <p:nvPr/>
        </p:nvSpPr>
        <p:spPr>
          <a:xfrm>
            <a:off x="7406640" y="1371600"/>
            <a:ext cx="4233672" cy="4114800"/>
          </a:xfrm>
          <a:prstGeom prst="roundRect">
            <a:avLst>
              <a:gd name="adj" fmla="val 2667"/>
            </a:avLst>
          </a:prstGeom>
          <a:solidFill>
            <a:schemeClr val="bg2"/>
          </a:solidFill>
          <a:ln/>
          <a:effectLst>
            <a:outerShdw sx="100000" sy="100000" kx="0" ky="0" algn="bl" rotWithShape="0" blurRad="76200" dist="25400" dir="5400000">
              <a:srgbClr val="000000">
                <a:alpha val="12000"/>
              </a:srgbClr>
            </a:outerShdw>
          </a:effectLst>
        </p:spPr>
      </p:sp>
      <p:sp>
        <p:nvSpPr>
          <p:cNvPr id="5" name="Features heading"/>
          <p:cNvSpPr txBox="1"/>
          <p:nvPr/>
        </p:nvSpPr>
        <p:spPr>
          <a:xfrm>
            <a:off x="7635240" y="1508760"/>
            <a:ext cx="3749040" cy="365760"/>
          </a:xfrm>
          <a:prstGeom prst="rect">
            <a:avLst/>
          </a:prstGeom>
          <a:noFill/>
          <a:ln/>
        </p:spPr>
        <p:txBody>
          <a:bodyPr wrap="square" lIns="0" tIns="0" rIns="0" bIns="0" rtlCol="0" anchor="t"/>
          <a:lstStyle/>
          <a:p>
            <a:pPr indent="0" marL="0">
              <a:buNone/>
            </a:pPr>
            <a:r>
              <a:rPr lang="en-US" sz="1800" b="1" dirty="0">
                <a:solidFill>
                  <a:schemeClr val="accent1"/>
                </a:solidFill>
              </a:rPr>
              <a:t>Important features</a:t>
            </a:r>
            <a:endParaRPr lang="en-US" sz="1800" dirty="0"/>
          </a:p>
        </p:txBody>
      </p:sp>
      <p:sp>
        <p:nvSpPr>
          <p:cNvPr id="6" name="Features text"/>
          <p:cNvSpPr txBox="1"/>
          <p:nvPr/>
        </p:nvSpPr>
        <p:spPr>
          <a:xfrm>
            <a:off x="7635240" y="1965960"/>
            <a:ext cx="3749040" cy="3429000"/>
          </a:xfrm>
          <a:prstGeom prst="rect">
            <a:avLst/>
          </a:prstGeom>
          <a:noFill/>
          <a:ln/>
        </p:spPr>
        <p:txBody>
          <a:bodyPr wrap="square" lIns="0" tIns="0" rIns="0" bIns="0" rtlCol="0" anchor="t"/>
          <a:lstStyle/>
          <a:p>
            <a:pPr indent="0" marL="0">
              <a:spcAft>
                <a:spcPts val="800"/>
              </a:spcAft>
              <a:buNone/>
            </a:pPr>
            <a:r>
              <a:rPr lang="en-US" sz="1400" b="1" dirty="0">
                <a:solidFill>
                  <a:schemeClr val="tx1"/>
                </a:solidFill>
              </a:rPr>
              <a:t>Identifiers: </a:t>
            </a:r>
            <a:pPr indent="0" marL="0">
              <a:spcAft>
                <a:spcPts val="800"/>
              </a:spcAft>
              <a:buNone/>
            </a:pPr>
            <a:r>
              <a:rPr lang="en-US" sz="1400" dirty="0">
                <a:solidFill>
                  <a:schemeClr val="tx1"/>
                </a:solidFill>
              </a:rPr>
              <a:t>Country Name, Country Code, Series Name, Series Code</a:t>
            </a:r>
            <a:endParaRPr lang="en-US" sz="1400" dirty="0"/>
          </a:p>
          <a:p>
            <a:pPr indent="0" marL="0">
              <a:spcAft>
                <a:spcPts val="800"/>
              </a:spcAft>
              <a:buNone/>
            </a:pPr>
            <a:r>
              <a:rPr lang="en-US" sz="1400" b="1" dirty="0">
                <a:solidFill>
                  <a:schemeClr val="tx1"/>
                </a:solidFill>
              </a:rPr>
              <a:t>Years: </a:t>
            </a:r>
            <a:pPr indent="0" marL="0">
              <a:spcAft>
                <a:spcPts val="800"/>
              </a:spcAft>
              <a:buNone/>
            </a:pPr>
            <a:r>
              <a:rPr lang="en-US" sz="1400" dirty="0">
                <a:solidFill>
                  <a:schemeClr val="tx1"/>
                </a:solidFill>
              </a:rPr>
              <a:t>2016 to 2025 (one column each)</a:t>
            </a:r>
            <a:endParaRPr lang="en-US" sz="1400" dirty="0"/>
          </a:p>
          <a:p>
            <a:pPr indent="0" marL="0">
              <a:spcAft>
                <a:spcPts val="800"/>
              </a:spcAft>
              <a:buNone/>
            </a:pPr>
            <a:r>
              <a:rPr lang="en-US" sz="1400" b="1" dirty="0">
                <a:solidFill>
                  <a:schemeClr val="tx1"/>
                </a:solidFill>
              </a:rPr>
              <a:t>16 indicators analysed: </a:t>
            </a:r>
            <a:pPr indent="0" marL="0">
              <a:spcAft>
                <a:spcPts val="800"/>
              </a:spcAft>
              <a:buNone/>
            </a:pPr>
            <a:r>
              <a:rPr lang="en-US" sz="1400" dirty="0">
                <a:solidFill>
                  <a:schemeClr val="tx1"/>
                </a:solidFill>
              </a:rPr>
              <a:t>GDP, GDP growth, GNI per capita, population, population growth, life expectancy, fertility rate, under-5 mortality, exports, imports, inflation, military spending, mobile subscriptions, industry share, agriculture share, capital formation</a:t>
            </a:r>
            <a:endParaRPr lang="en-US" sz="1400" dirty="0"/>
          </a:p>
        </p:txBody>
      </p:sp>
      <p:sp>
        <p:nvSpPr>
          <p:cNvPr id="7" name="Dataset description"/>
          <p:cNvSpPr txBox="1"/>
          <p:nvPr/>
        </p:nvSpPr>
        <p:spPr>
          <a:xfrm>
            <a:off x="548640" y="5760720"/>
            <a:ext cx="11064240" cy="548640"/>
          </a:xfrm>
          <a:prstGeom prst="rect">
            <a:avLst/>
          </a:prstGeom>
          <a:noFill/>
          <a:ln/>
        </p:spPr>
        <p:txBody>
          <a:bodyPr wrap="square" lIns="0" tIns="0" rIns="0" bIns="0" rtlCol="0" anchor="t"/>
          <a:lstStyle/>
          <a:p>
            <a:pPr indent="0" marL="0">
              <a:buNone/>
            </a:pPr>
            <a:r>
              <a:rPr lang="en-US" sz="1400" dirty="0">
                <a:solidFill>
                  <a:schemeClr val="accent5"/>
                </a:solidFill>
              </a:rPr>
              <a:t>Each row is one indicator for one country, with a value for every year from 2016 to 2025. The World Bank writes missing values as '..'.</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rPr>
              <a:t>Data Collection &amp; Understanding</a:t>
            </a:r>
            <a:endParaRPr lang="en-US" sz="3400" dirty="0"/>
          </a:p>
        </p:txBody>
      </p:sp>
      <p:sp>
        <p:nvSpPr>
          <p:cNvPr id="3" name="Collection card"/>
          <p:cNvSpPr/>
          <p:nvPr/>
        </p:nvSpPr>
        <p:spPr>
          <a:xfrm>
            <a:off x="548640" y="1371600"/>
            <a:ext cx="5760720" cy="1097280"/>
          </a:xfrm>
          <a:prstGeom prst="roundRect">
            <a:avLst>
              <a:gd name="adj" fmla="val 10000"/>
            </a:avLst>
          </a:prstGeom>
          <a:solidFill>
            <a:schemeClr val="bg2"/>
          </a:solidFill>
          <a:ln/>
          <a:effectLst>
            <a:outerShdw sx="100000" sy="100000" kx="0" ky="0" algn="bl" rotWithShape="0" blurRad="76200" dist="25400" dir="5400000">
              <a:srgbClr val="000000">
                <a:alpha val="12000"/>
              </a:srgbClr>
            </a:outerShdw>
          </a:effectLst>
        </p:spPr>
      </p:sp>
      <p:sp>
        <p:nvSpPr>
          <p:cNvPr id="4" name="Collection text"/>
          <p:cNvSpPr txBox="1"/>
          <p:nvPr/>
        </p:nvSpPr>
        <p:spPr>
          <a:xfrm>
            <a:off x="777240" y="1463040"/>
            <a:ext cx="5303520" cy="914400"/>
          </a:xfrm>
          <a:prstGeom prst="rect">
            <a:avLst/>
          </a:prstGeom>
          <a:noFill/>
          <a:ln/>
        </p:spPr>
        <p:txBody>
          <a:bodyPr wrap="square" lIns="0" tIns="0" rIns="0" bIns="0" rtlCol="0" anchor="ctr"/>
          <a:lstStyle/>
          <a:p>
            <a:pPr indent="0" marL="0">
              <a:buNone/>
            </a:pPr>
            <a:r>
              <a:rPr lang="en-US" sz="1400" b="1" dirty="0">
                <a:solidFill>
                  <a:schemeClr val="accent1"/>
                </a:solidFill>
              </a:rPr>
              <a:t>Collected from: </a:t>
            </a:r>
            <a:pPr indent="0" marL="0">
              <a:buNone/>
            </a:pPr>
            <a:r>
              <a:rPr lang="en-US" sz="1400" dirty="0">
                <a:solidFill>
                  <a:schemeClr val="tx1"/>
                </a:solidFill>
              </a:rPr>
              <a:t>World Bank DataBank (World Development Indicators), downloaded as a CSV extract for 20 countries, 52 indicators and 2016 to 2025.</a:t>
            </a:r>
            <a:endParaRPr lang="en-US" sz="1400" dirty="0"/>
          </a:p>
        </p:txBody>
      </p:sp>
      <p:graphicFrame>
        <p:nvGraphicFramePr>
          <p:cNvPr id="8" name="Data understanding table"/>
          <p:cNvGraphicFramePr>
            <a:graphicFrameLocks noGrp="1"/>
          </p:cNvGraphicFramePr>
          <p:nvPr>
            <p:extLst>
              <p:ext uri="{D42A27DB-BD31-4B8C-83A1-F6EECF244321}">
                <p14:modId xmlns:p14="http://schemas.microsoft.com/office/powerpoint/2010/main" val="1579011935"/>
              </p:ext>
            </p:extLst>
          </p:nvPr>
        </p:nvGraphicFramePr>
        <p:xfrm>
          <a:off x="548640" y="2697480"/>
          <a:ext cx="5760720" cy="914400"/>
        </p:xfrm>
        <a:graphic>
          <a:graphicData uri="http://schemas.openxmlformats.org/drawingml/2006/table">
            <a:tbl>
              <a:tblPr/>
              <a:tblGrid>
                <a:gridCol w="1554480"/>
                <a:gridCol w="4206240"/>
              </a:tblGrid>
              <a:tr h="411480">
                <a:tc>
                  <a:txBody>
                    <a:bodyPr/>
                    <a:lstStyle/>
                    <a:p>
                      <a:pPr indent="0" marL="0">
                        <a:buNone/>
                      </a:pPr>
                      <a:r>
                        <a:rPr lang="en-US" sz="1400" b="1" dirty="0">
                          <a:solidFill>
                            <a:schemeClr val="bg1"/>
                          </a:solidFill>
                        </a:rPr>
                        <a:t>Check</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400" b="1" dirty="0">
                          <a:solidFill>
                            <a:schemeClr val="bg1"/>
                          </a:solidFill>
                        </a:rPr>
                        <a:t>Result</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tx2"/>
                    </a:solidFill>
                  </a:tcPr>
                </a:tc>
              </a:tr>
              <a:tr h="457200">
                <a:tc>
                  <a:txBody>
                    <a:bodyPr/>
                    <a:lstStyle/>
                    <a:p>
                      <a:pPr indent="0" marL="0">
                        <a:buNone/>
                      </a:pPr>
                      <a:r>
                        <a:rPr lang="en-US" sz="1400" b="1" dirty="0">
                          <a:solidFill>
                            <a:schemeClr val="tx2"/>
                          </a:solidFill>
                        </a:rPr>
                        <a:t>Shape</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1,045 rows x 14 columns</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r>
              <a:tr h="777240">
                <a:tc>
                  <a:txBody>
                    <a:bodyPr/>
                    <a:lstStyle/>
                    <a:p>
                      <a:pPr indent="0" marL="0">
                        <a:buNone/>
                      </a:pPr>
                      <a:r>
                        <a:rPr lang="en-US" sz="1400" b="1" dirty="0">
                          <a:solidFill>
                            <a:schemeClr val="tx2"/>
                          </a:solidFill>
                        </a:rPr>
                        <a:t>Data types</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All 14 columns loaded as text (str), including the 10 year columns</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1"/>
                    </a:solidFill>
                  </a:tcPr>
                </a:tc>
              </a:tr>
              <a:tr h="777240">
                <a:tc>
                  <a:txBody>
                    <a:bodyPr/>
                    <a:lstStyle/>
                    <a:p>
                      <a:pPr indent="0" marL="0">
                        <a:buNone/>
                      </a:pPr>
                      <a:r>
                        <a:rPr lang="en-US" sz="1400" b="1" dirty="0">
                          <a:solidFill>
                            <a:schemeClr val="tx2"/>
                          </a:solidFill>
                        </a:rPr>
                        <a:t>Missing values</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5 blank/footer rows, plus 2,156 cells holding '..' (20.7%)</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r>
              <a:tr h="457200">
                <a:tc>
                  <a:txBody>
                    <a:bodyPr/>
                    <a:lstStyle/>
                    <a:p>
                      <a:pPr indent="0" marL="0">
                        <a:buNone/>
                      </a:pPr>
                      <a:r>
                        <a:rPr lang="en-US" sz="1400" b="1" dirty="0">
                          <a:solidFill>
                            <a:schemeClr val="tx2"/>
                          </a:solidFill>
                        </a:rPr>
                        <a:t>Duplicates</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0 duplicate data records</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6" name="Missing note"/>
          <p:cNvSpPr txBox="1"/>
          <p:nvPr/>
        </p:nvSpPr>
        <p:spPr>
          <a:xfrm>
            <a:off x="548640" y="5715000"/>
            <a:ext cx="5760720" cy="640080"/>
          </a:xfrm>
          <a:prstGeom prst="rect">
            <a:avLst/>
          </a:prstGeom>
          <a:noFill/>
          <a:ln/>
        </p:spPr>
        <p:txBody>
          <a:bodyPr wrap="square" lIns="0" tIns="0" rIns="0" bIns="0" rtlCol="0" anchor="t"/>
          <a:lstStyle/>
          <a:p>
            <a:pPr indent="0" marL="0">
              <a:buNone/>
            </a:pPr>
            <a:r>
              <a:rPr lang="en-US" sz="1400" dirty="0">
                <a:solidFill>
                  <a:schemeClr val="accent5"/>
                </a:solidFill>
              </a:rPr>
              <a:t>Missing values are not random: later years are emptier, because the World Bank publishes some indicators with a delay.</a:t>
            </a:r>
            <a:endParaRPr lang="en-US" sz="1400" dirty="0"/>
          </a:p>
        </p:txBody>
      </p:sp>
      <p:pic>
        <p:nvPicPr>
          <p:cNvPr id="7" name="Screenshot head" descr="Notebook output showing the first rows of the cleaned table with NaN for missing values">    </p:cNvPr>
          <p:cNvPicPr>
            <a:picLocks noChangeAspect="1"/>
          </p:cNvPicPr>
          <p:nvPr/>
        </p:nvPicPr>
        <p:blipFill>
          <a:blip r:embed="rId1"/>
          <a:stretch>
            <a:fillRect/>
          </a:stretch>
        </p:blipFill>
        <p:spPr>
          <a:xfrm>
            <a:off x="6601986" y="1371600"/>
            <a:ext cx="5020021" cy="2697480"/>
          </a:xfrm>
          <a:prstGeom prst="rect">
            <a:avLst/>
          </a:prstGeom>
        </p:spPr>
      </p:pic>
      <p:sp>
        <p:nvSpPr>
          <p:cNvPr id="8" name="Screenshot frame"/>
          <p:cNvSpPr/>
          <p:nvPr/>
        </p:nvSpPr>
        <p:spPr>
          <a:xfrm>
            <a:off x="6601986" y="1371600"/>
            <a:ext cx="5020021" cy="2697480"/>
          </a:xfrm>
          <a:prstGeom prst="rect">
            <a:avLst/>
          </a:prstGeom>
          <a:ln w="12700">
            <a:solidFill>
              <a:schemeClr val="accent5"/>
            </a:solidFill>
            <a:prstDash val="solid"/>
          </a:ln>
        </p:spPr>
      </p:sp>
      <p:sp>
        <p:nvSpPr>
          <p:cNvPr id="9" name="Screenshot caption"/>
          <p:cNvSpPr txBox="1"/>
          <p:nvPr/>
        </p:nvSpPr>
        <p:spPr>
          <a:xfrm>
            <a:off x="6583680" y="4114800"/>
            <a:ext cx="5056632" cy="274320"/>
          </a:xfrm>
          <a:prstGeom prst="rect">
            <a:avLst/>
          </a:prstGeom>
          <a:noFill/>
          <a:ln/>
        </p:spPr>
        <p:txBody>
          <a:bodyPr wrap="square" lIns="0" tIns="0" rIns="0" bIns="0" rtlCol="0" anchor="t"/>
          <a:lstStyle/>
          <a:p>
            <a:pPr indent="0" marL="0">
              <a:buNone/>
            </a:pPr>
            <a:r>
              <a:rPr lang="en-US" sz="1000" dirty="0">
                <a:solidFill>
                  <a:schemeClr val="accent5"/>
                </a:solidFill>
              </a:rPr>
              <a:t>Notebook output: clean_df.head(). NaN marks a missing value.</a:t>
            </a:r>
            <a:endParaRPr lang="en-US" sz="1000" dirty="0"/>
          </a:p>
        </p:txBody>
      </p:sp>
      <p:graphicFrame>
        <p:nvGraphicFramePr>
          <p:cNvPr id="10" name="Missing per year chart" descr=""/>
          <p:cNvGraphicFramePr/>
          <p:nvPr/>
        </p:nvGraphicFramePr>
        <p:xfrm>
          <a:off x="6583680" y="4434840"/>
          <a:ext cx="5056632" cy="1920240"/>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rPr>
              <a:t>Data Cleaning &amp; Transformation</a:t>
            </a:r>
            <a:endParaRPr lang="en-US" sz="3400" dirty="0"/>
          </a:p>
        </p:txBody>
      </p:sp>
      <p:sp>
        <p:nvSpPr>
          <p:cNvPr id="3" name="Cleaning card"/>
          <p:cNvSpPr/>
          <p:nvPr/>
        </p:nvSpPr>
        <p:spPr>
          <a:xfrm>
            <a:off x="548640" y="1325880"/>
            <a:ext cx="6309360" cy="2697480"/>
          </a:xfrm>
          <a:prstGeom prst="roundRect">
            <a:avLst>
              <a:gd name="adj" fmla="val 4068"/>
            </a:avLst>
          </a:prstGeom>
          <a:solidFill>
            <a:schemeClr val="bg2"/>
          </a:solidFill>
          <a:ln/>
          <a:effectLst>
            <a:outerShdw sx="100000" sy="100000" kx="0" ky="0" algn="bl" rotWithShape="0" blurRad="76200" dist="25400" dir="5400000">
              <a:srgbClr val="000000">
                <a:alpha val="12000"/>
              </a:srgbClr>
            </a:outerShdw>
          </a:effectLst>
        </p:spPr>
      </p:sp>
      <p:sp>
        <p:nvSpPr>
          <p:cNvPr id="4" name="Cleaning heading"/>
          <p:cNvSpPr txBox="1"/>
          <p:nvPr/>
        </p:nvSpPr>
        <p:spPr>
          <a:xfrm>
            <a:off x="777240" y="1417320"/>
            <a:ext cx="5852160" cy="365760"/>
          </a:xfrm>
          <a:prstGeom prst="rect">
            <a:avLst/>
          </a:prstGeom>
          <a:noFill/>
          <a:ln/>
        </p:spPr>
        <p:txBody>
          <a:bodyPr wrap="square" lIns="0" tIns="0" rIns="0" bIns="0" rtlCol="0" anchor="t"/>
          <a:lstStyle/>
          <a:p>
            <a:pPr indent="0" marL="0">
              <a:buNone/>
            </a:pPr>
            <a:r>
              <a:rPr lang="en-US" sz="1800" b="1" dirty="0">
                <a:solidFill>
                  <a:schemeClr val="accent1"/>
                </a:solidFill>
              </a:rPr>
              <a:t>Cleaning</a:t>
            </a:r>
            <a:endParaRPr lang="en-US" sz="1800" dirty="0"/>
          </a:p>
        </p:txBody>
      </p:sp>
      <p:sp>
        <p:nvSpPr>
          <p:cNvPr id="5" name="Cleaning bullets"/>
          <p:cNvSpPr txBox="1"/>
          <p:nvPr/>
        </p:nvSpPr>
        <p:spPr>
          <a:xfrm>
            <a:off x="777240" y="1828800"/>
            <a:ext cx="5852160" cy="21488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000000"/>
                </a:solidFill>
              </a:rPr>
              <a:t>Kept an untouched copy (raw_df) and cleaned a second copy</a:t>
            </a:r>
            <a:endParaRPr lang="en-US" sz="1400" dirty="0"/>
          </a:p>
          <a:p>
            <a:pPr marL="342900" indent="-342900">
              <a:spcAft>
                <a:spcPts val="600"/>
              </a:spcAft>
              <a:buSzPct val="100000"/>
              <a:buChar char="•"/>
            </a:pPr>
            <a:r>
              <a:rPr lang="en-US" sz="1400" dirty="0">
                <a:solidFill>
                  <a:srgbClr val="000000"/>
                </a:solidFill>
              </a:rPr>
              <a:t>Removed 5 footer/blank rows (1,045 to 1,040 rows)</a:t>
            </a:r>
            <a:endParaRPr lang="en-US" sz="1400" dirty="0"/>
          </a:p>
          <a:p>
            <a:pPr marL="342900" indent="-342900">
              <a:spcAft>
                <a:spcPts val="600"/>
              </a:spcAft>
              <a:buSzPct val="100000"/>
              <a:buChar char="•"/>
            </a:pPr>
            <a:r>
              <a:rPr lang="en-US" sz="1400" dirty="0">
                <a:solidFill>
                  <a:srgbClr val="000000"/>
                </a:solidFill>
              </a:rPr>
              <a:t>Replaced '..' with real missing values (NaN)</a:t>
            </a:r>
            <a:endParaRPr lang="en-US" sz="1400" dirty="0"/>
          </a:p>
          <a:p>
            <a:pPr marL="342900" indent="-342900">
              <a:spcAft>
                <a:spcPts val="600"/>
              </a:spcAft>
              <a:buSzPct val="100000"/>
              <a:buChar char="•"/>
            </a:pPr>
            <a:r>
              <a:rPr lang="en-US" sz="1400" dirty="0">
                <a:solidFill>
                  <a:srgbClr val="000000"/>
                </a:solidFill>
              </a:rPr>
              <a:t>Converted the 10 year columns from text to float64</a:t>
            </a:r>
            <a:endParaRPr lang="en-US" sz="1400" dirty="0"/>
          </a:p>
          <a:p>
            <a:pPr marL="342900" indent="-342900">
              <a:spcAft>
                <a:spcPts val="600"/>
              </a:spcAft>
              <a:buSzPct val="100000"/>
              <a:buChar char="•"/>
            </a:pPr>
            <a:r>
              <a:rPr lang="en-US" sz="1400" dirty="0">
                <a:solidFill>
                  <a:srgbClr val="000000"/>
                </a:solidFill>
              </a:rPr>
              <a:t>Renamed columns (2016 [YR2016] became 2016)</a:t>
            </a:r>
            <a:endParaRPr lang="en-US" sz="1400" dirty="0"/>
          </a:p>
          <a:p>
            <a:pPr marL="342900" indent="-342900">
              <a:spcAft>
                <a:spcPts val="600"/>
              </a:spcAft>
              <a:buSzPct val="100000"/>
              <a:buChar char="•"/>
            </a:pPr>
            <a:r>
              <a:rPr lang="en-US" sz="1400" dirty="0">
                <a:solidFill>
                  <a:srgbClr val="000000"/>
                </a:solidFill>
              </a:rPr>
              <a:t>Checked duplicates: 0</a:t>
            </a:r>
            <a:endParaRPr lang="en-US" sz="1400" dirty="0"/>
          </a:p>
        </p:txBody>
      </p:sp>
      <p:sp>
        <p:nvSpPr>
          <p:cNvPr id="6" name="Transformation card"/>
          <p:cNvSpPr/>
          <p:nvPr/>
        </p:nvSpPr>
        <p:spPr>
          <a:xfrm>
            <a:off x="548640" y="4206240"/>
            <a:ext cx="6309360" cy="2057400"/>
          </a:xfrm>
          <a:prstGeom prst="roundRect">
            <a:avLst>
              <a:gd name="adj" fmla="val 5333"/>
            </a:avLst>
          </a:prstGeom>
          <a:solidFill>
            <a:schemeClr val="bg2"/>
          </a:solidFill>
          <a:ln/>
          <a:effectLst>
            <a:outerShdw sx="100000" sy="100000" kx="0" ky="0" algn="bl" rotWithShape="0" blurRad="76200" dist="25400" dir="5400000">
              <a:srgbClr val="000000">
                <a:alpha val="12000"/>
              </a:srgbClr>
            </a:outerShdw>
          </a:effectLst>
        </p:spPr>
      </p:sp>
      <p:sp>
        <p:nvSpPr>
          <p:cNvPr id="7" name="Transformation heading"/>
          <p:cNvSpPr txBox="1"/>
          <p:nvPr/>
        </p:nvSpPr>
        <p:spPr>
          <a:xfrm>
            <a:off x="777240" y="4297680"/>
            <a:ext cx="5852160" cy="365760"/>
          </a:xfrm>
          <a:prstGeom prst="rect">
            <a:avLst/>
          </a:prstGeom>
          <a:noFill/>
          <a:ln/>
        </p:spPr>
        <p:txBody>
          <a:bodyPr wrap="square" lIns="0" tIns="0" rIns="0" bIns="0" rtlCol="0" anchor="t"/>
          <a:lstStyle/>
          <a:p>
            <a:pPr indent="0" marL="0">
              <a:buNone/>
            </a:pPr>
            <a:r>
              <a:rPr lang="en-US" sz="1800" b="1" dirty="0">
                <a:solidFill>
                  <a:schemeClr val="accent1"/>
                </a:solidFill>
              </a:rPr>
              <a:t>Transformation</a:t>
            </a:r>
            <a:endParaRPr lang="en-US" sz="1800" dirty="0"/>
          </a:p>
        </p:txBody>
      </p:sp>
      <p:sp>
        <p:nvSpPr>
          <p:cNvPr id="8" name="Transformation bullets"/>
          <p:cNvSpPr txBox="1"/>
          <p:nvPr/>
        </p:nvSpPr>
        <p:spPr>
          <a:xfrm>
            <a:off x="777240" y="4709160"/>
            <a:ext cx="5852160" cy="15087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000000"/>
                </a:solidFill>
              </a:rPr>
              <a:t>Melted wide to long format (10,400 x 6)</a:t>
            </a:r>
            <a:endParaRPr lang="en-US" sz="1400" dirty="0"/>
          </a:p>
          <a:p>
            <a:pPr marL="342900" indent="-342900">
              <a:spcAft>
                <a:spcPts val="600"/>
              </a:spcAft>
              <a:buSzPct val="100000"/>
              <a:buChar char="•"/>
            </a:pPr>
            <a:r>
              <a:rPr lang="en-US" sz="1400" dirty="0">
                <a:solidFill>
                  <a:srgbClr val="000000"/>
                </a:solidFill>
              </a:rPr>
              <a:t>Filtered to 16 key indicators and pivoted to one row per country-year (200 x 19)</a:t>
            </a:r>
            <a:endParaRPr lang="en-US" sz="1400" dirty="0"/>
          </a:p>
          <a:p>
            <a:pPr marL="342900" indent="-342900">
              <a:spcAft>
                <a:spcPts val="600"/>
              </a:spcAft>
              <a:buSzPct val="100000"/>
              <a:buChar char="•"/>
            </a:pPr>
            <a:r>
              <a:rPr lang="en-US" sz="1400" dirty="0">
                <a:solidFill>
                  <a:srgbClr val="000000"/>
                </a:solidFill>
              </a:rPr>
              <a:t>Created GDP growth categories (pd.cut) and income tiers (pd.qcut)</a:t>
            </a:r>
            <a:endParaRPr lang="en-US" sz="1400" dirty="0"/>
          </a:p>
          <a:p>
            <a:pPr marL="342900" indent="-342900">
              <a:spcAft>
                <a:spcPts val="600"/>
              </a:spcAft>
              <a:buSzPct val="100000"/>
              <a:buChar char="•"/>
            </a:pPr>
            <a:r>
              <a:rPr lang="en-US" sz="1400" dirty="0">
                <a:solidFill>
                  <a:srgbClr val="000000"/>
                </a:solidFill>
              </a:rPr>
              <a:t>Saved cleaned_dataset.csv</a:t>
            </a:r>
            <a:endParaRPr lang="en-US" sz="1400" dirty="0"/>
          </a:p>
        </p:txBody>
      </p:sp>
      <p:pic>
        <p:nvPicPr>
          <p:cNvPr id="9" name="Screenshot long" descr="Notebook output showing the long table shape (10400, 6) and its first rows">    </p:cNvPr>
          <p:cNvPicPr>
            <a:picLocks noChangeAspect="1"/>
          </p:cNvPicPr>
          <p:nvPr/>
        </p:nvPicPr>
        <p:blipFill>
          <a:blip r:embed="rId1"/>
          <a:stretch>
            <a:fillRect/>
          </a:stretch>
        </p:blipFill>
        <p:spPr>
          <a:xfrm>
            <a:off x="7132320" y="1355041"/>
            <a:ext cx="4507992" cy="1221838"/>
          </a:xfrm>
          <a:prstGeom prst="rect">
            <a:avLst/>
          </a:prstGeom>
        </p:spPr>
      </p:pic>
      <p:sp>
        <p:nvSpPr>
          <p:cNvPr id="10" name="Screenshot frame long"/>
          <p:cNvSpPr/>
          <p:nvPr/>
        </p:nvSpPr>
        <p:spPr>
          <a:xfrm>
            <a:off x="7132320" y="1355041"/>
            <a:ext cx="4507992" cy="1221838"/>
          </a:xfrm>
          <a:prstGeom prst="rect">
            <a:avLst/>
          </a:prstGeom>
          <a:ln w="12700">
            <a:solidFill>
              <a:schemeClr val="accent5"/>
            </a:solidFill>
            <a:prstDash val="solid"/>
          </a:ln>
        </p:spPr>
      </p:sp>
      <p:sp>
        <p:nvSpPr>
          <p:cNvPr id="11" name="Long caption"/>
          <p:cNvSpPr txBox="1"/>
          <p:nvPr/>
        </p:nvSpPr>
        <p:spPr>
          <a:xfrm>
            <a:off x="7132320" y="2622599"/>
            <a:ext cx="4507992" cy="274320"/>
          </a:xfrm>
          <a:prstGeom prst="rect">
            <a:avLst/>
          </a:prstGeom>
          <a:noFill/>
          <a:ln/>
        </p:spPr>
        <p:txBody>
          <a:bodyPr wrap="square" lIns="0" tIns="0" rIns="0" bIns="0" rtlCol="0" anchor="t"/>
          <a:lstStyle/>
          <a:p>
            <a:pPr indent="0" marL="0">
              <a:buNone/>
            </a:pPr>
            <a:r>
              <a:rPr lang="en-US" sz="1000" dirty="0">
                <a:solidFill>
                  <a:schemeClr val="accent5"/>
                </a:solidFill>
              </a:rPr>
              <a:t>Notebook output: long_df after melt(). Shape is (10400, 6).</a:t>
            </a:r>
            <a:endParaRPr lang="en-US" sz="1000" dirty="0"/>
          </a:p>
        </p:txBody>
      </p:sp>
      <p:sp>
        <p:nvSpPr>
          <p:cNvPr id="12" name="Stat card 1"/>
          <p:cNvSpPr/>
          <p:nvPr/>
        </p:nvSpPr>
        <p:spPr>
          <a:xfrm>
            <a:off x="7132320" y="3154680"/>
            <a:ext cx="2176272" cy="1463040"/>
          </a:xfrm>
          <a:prstGeom prst="roundRect">
            <a:avLst>
              <a:gd name="adj" fmla="val 7500"/>
            </a:avLst>
          </a:prstGeom>
          <a:solidFill>
            <a:schemeClr val="bg2"/>
          </a:solidFill>
          <a:ln/>
          <a:effectLst>
            <a:outerShdw sx="100000" sy="100000" kx="0" ky="0" algn="bl" rotWithShape="0" blurRad="76200" dist="25400" dir="5400000">
              <a:srgbClr val="000000">
                <a:alpha val="12000"/>
              </a:srgbClr>
            </a:outerShdw>
          </a:effectLst>
        </p:spPr>
      </p:sp>
      <p:sp>
        <p:nvSpPr>
          <p:cNvPr id="13" name="Stat value 1"/>
          <p:cNvSpPr txBox="1"/>
          <p:nvPr/>
        </p:nvSpPr>
        <p:spPr>
          <a:xfrm>
            <a:off x="7223760" y="3337560"/>
            <a:ext cx="1993392" cy="594360"/>
          </a:xfrm>
          <a:prstGeom prst="rect">
            <a:avLst/>
          </a:prstGeom>
          <a:noFill/>
          <a:ln/>
        </p:spPr>
        <p:txBody>
          <a:bodyPr wrap="square" lIns="0" tIns="0" rIns="0" bIns="0" rtlCol="0" anchor="ctr"/>
          <a:lstStyle/>
          <a:p>
            <a:pPr algn="ctr" indent="0" marL="0">
              <a:buNone/>
            </a:pPr>
            <a:r>
              <a:rPr lang="en-US" sz="2400" b="1" dirty="0">
                <a:solidFill>
                  <a:schemeClr val="accent1"/>
                </a:solidFill>
              </a:rPr>
              <a:t>1,045 to 1,040</a:t>
            </a:r>
            <a:endParaRPr lang="en-US" sz="2400" dirty="0"/>
          </a:p>
        </p:txBody>
      </p:sp>
      <p:sp>
        <p:nvSpPr>
          <p:cNvPr id="14" name="Stat caption 1"/>
          <p:cNvSpPr txBox="1"/>
          <p:nvPr/>
        </p:nvSpPr>
        <p:spPr>
          <a:xfrm>
            <a:off x="7223760" y="3977640"/>
            <a:ext cx="1993392" cy="502920"/>
          </a:xfrm>
          <a:prstGeom prst="rect">
            <a:avLst/>
          </a:prstGeom>
          <a:noFill/>
          <a:ln/>
        </p:spPr>
        <p:txBody>
          <a:bodyPr wrap="square" lIns="0" tIns="0" rIns="0" bIns="0" rtlCol="0" anchor="t"/>
          <a:lstStyle/>
          <a:p>
            <a:pPr algn="ctr" indent="0" marL="0">
              <a:buNone/>
            </a:pPr>
            <a:r>
              <a:rPr lang="en-US" sz="1400" dirty="0">
                <a:solidFill>
                  <a:schemeClr val="tx1"/>
                </a:solidFill>
              </a:rPr>
              <a:t>rows after removing footers</a:t>
            </a:r>
            <a:endParaRPr lang="en-US" sz="1400" dirty="0"/>
          </a:p>
        </p:txBody>
      </p:sp>
      <p:sp>
        <p:nvSpPr>
          <p:cNvPr id="15" name="Stat card 2"/>
          <p:cNvSpPr/>
          <p:nvPr/>
        </p:nvSpPr>
        <p:spPr>
          <a:xfrm>
            <a:off x="9464040" y="3154680"/>
            <a:ext cx="2176272" cy="1463040"/>
          </a:xfrm>
          <a:prstGeom prst="roundRect">
            <a:avLst>
              <a:gd name="adj" fmla="val 7500"/>
            </a:avLst>
          </a:prstGeom>
          <a:solidFill>
            <a:schemeClr val="bg2"/>
          </a:solidFill>
          <a:ln/>
          <a:effectLst>
            <a:outerShdw sx="100000" sy="100000" kx="0" ky="0" algn="bl" rotWithShape="0" blurRad="76200" dist="25400" dir="5400000">
              <a:srgbClr val="000000">
                <a:alpha val="12000"/>
              </a:srgbClr>
            </a:outerShdw>
          </a:effectLst>
        </p:spPr>
      </p:sp>
      <p:sp>
        <p:nvSpPr>
          <p:cNvPr id="16" name="Stat value 2"/>
          <p:cNvSpPr txBox="1"/>
          <p:nvPr/>
        </p:nvSpPr>
        <p:spPr>
          <a:xfrm>
            <a:off x="9555480" y="3337560"/>
            <a:ext cx="1993392" cy="594360"/>
          </a:xfrm>
          <a:prstGeom prst="rect">
            <a:avLst/>
          </a:prstGeom>
          <a:noFill/>
          <a:ln/>
        </p:spPr>
        <p:txBody>
          <a:bodyPr wrap="square" lIns="0" tIns="0" rIns="0" bIns="0" rtlCol="0" anchor="ctr"/>
          <a:lstStyle/>
          <a:p>
            <a:pPr algn="ctr" indent="0" marL="0">
              <a:buNone/>
            </a:pPr>
            <a:r>
              <a:rPr lang="en-US" sz="2400" b="1" dirty="0">
                <a:solidFill>
                  <a:schemeClr val="accent1"/>
                </a:solidFill>
              </a:rPr>
              <a:t>10,400 x 6</a:t>
            </a:r>
            <a:endParaRPr lang="en-US" sz="2400" dirty="0"/>
          </a:p>
        </p:txBody>
      </p:sp>
      <p:sp>
        <p:nvSpPr>
          <p:cNvPr id="17" name="Stat caption 2"/>
          <p:cNvSpPr txBox="1"/>
          <p:nvPr/>
        </p:nvSpPr>
        <p:spPr>
          <a:xfrm>
            <a:off x="9555480" y="3977640"/>
            <a:ext cx="1993392" cy="502920"/>
          </a:xfrm>
          <a:prstGeom prst="rect">
            <a:avLst/>
          </a:prstGeom>
          <a:noFill/>
          <a:ln/>
        </p:spPr>
        <p:txBody>
          <a:bodyPr wrap="square" lIns="0" tIns="0" rIns="0" bIns="0" rtlCol="0" anchor="t"/>
          <a:lstStyle/>
          <a:p>
            <a:pPr algn="ctr" indent="0" marL="0">
              <a:buNone/>
            </a:pPr>
            <a:r>
              <a:rPr lang="en-US" sz="1400" dirty="0">
                <a:solidFill>
                  <a:schemeClr val="tx1"/>
                </a:solidFill>
              </a:rPr>
              <a:t>long table</a:t>
            </a:r>
            <a:endParaRPr lang="en-US" sz="1400" dirty="0"/>
          </a:p>
        </p:txBody>
      </p:sp>
      <p:sp>
        <p:nvSpPr>
          <p:cNvPr id="18" name="Stat card 3"/>
          <p:cNvSpPr/>
          <p:nvPr/>
        </p:nvSpPr>
        <p:spPr>
          <a:xfrm>
            <a:off x="7132320" y="4754880"/>
            <a:ext cx="2176272" cy="1463040"/>
          </a:xfrm>
          <a:prstGeom prst="roundRect">
            <a:avLst>
              <a:gd name="adj" fmla="val 7500"/>
            </a:avLst>
          </a:prstGeom>
          <a:solidFill>
            <a:schemeClr val="bg2"/>
          </a:solidFill>
          <a:ln/>
          <a:effectLst>
            <a:outerShdw sx="100000" sy="100000" kx="0" ky="0" algn="bl" rotWithShape="0" blurRad="76200" dist="25400" dir="5400000">
              <a:srgbClr val="000000">
                <a:alpha val="12000"/>
              </a:srgbClr>
            </a:outerShdw>
          </a:effectLst>
        </p:spPr>
      </p:sp>
      <p:sp>
        <p:nvSpPr>
          <p:cNvPr id="19" name="Stat value 3"/>
          <p:cNvSpPr txBox="1"/>
          <p:nvPr/>
        </p:nvSpPr>
        <p:spPr>
          <a:xfrm>
            <a:off x="7223760" y="4937760"/>
            <a:ext cx="1993392" cy="594360"/>
          </a:xfrm>
          <a:prstGeom prst="rect">
            <a:avLst/>
          </a:prstGeom>
          <a:noFill/>
          <a:ln/>
        </p:spPr>
        <p:txBody>
          <a:bodyPr wrap="square" lIns="0" tIns="0" rIns="0" bIns="0" rtlCol="0" anchor="ctr"/>
          <a:lstStyle/>
          <a:p>
            <a:pPr algn="ctr" indent="0" marL="0">
              <a:buNone/>
            </a:pPr>
            <a:r>
              <a:rPr lang="en-US" sz="2400" b="1" dirty="0">
                <a:solidFill>
                  <a:schemeClr val="accent1"/>
                </a:solidFill>
              </a:rPr>
              <a:t>200 x 19</a:t>
            </a:r>
            <a:endParaRPr lang="en-US" sz="2400" dirty="0"/>
          </a:p>
        </p:txBody>
      </p:sp>
      <p:sp>
        <p:nvSpPr>
          <p:cNvPr id="20" name="Stat caption 3"/>
          <p:cNvSpPr txBox="1"/>
          <p:nvPr/>
        </p:nvSpPr>
        <p:spPr>
          <a:xfrm>
            <a:off x="7223760" y="5577840"/>
            <a:ext cx="1993392" cy="502920"/>
          </a:xfrm>
          <a:prstGeom prst="rect">
            <a:avLst/>
          </a:prstGeom>
          <a:noFill/>
          <a:ln/>
        </p:spPr>
        <p:txBody>
          <a:bodyPr wrap="square" lIns="0" tIns="0" rIns="0" bIns="0" rtlCol="0" anchor="t"/>
          <a:lstStyle/>
          <a:p>
            <a:pPr algn="ctr" indent="0" marL="0">
              <a:buNone/>
            </a:pPr>
            <a:r>
              <a:rPr lang="en-US" sz="1400" dirty="0">
                <a:solidFill>
                  <a:schemeClr val="tx1"/>
                </a:solidFill>
              </a:rPr>
              <a:t>country-year table</a:t>
            </a:r>
            <a:endParaRPr lang="en-US" sz="1400" dirty="0"/>
          </a:p>
        </p:txBody>
      </p:sp>
      <p:sp>
        <p:nvSpPr>
          <p:cNvPr id="21" name="Stat card 4"/>
          <p:cNvSpPr/>
          <p:nvPr/>
        </p:nvSpPr>
        <p:spPr>
          <a:xfrm>
            <a:off x="9464040" y="4754880"/>
            <a:ext cx="2176272" cy="1463040"/>
          </a:xfrm>
          <a:prstGeom prst="roundRect">
            <a:avLst>
              <a:gd name="adj" fmla="val 7500"/>
            </a:avLst>
          </a:prstGeom>
          <a:solidFill>
            <a:schemeClr val="bg2"/>
          </a:solidFill>
          <a:ln/>
          <a:effectLst>
            <a:outerShdw sx="100000" sy="100000" kx="0" ky="0" algn="bl" rotWithShape="0" blurRad="76200" dist="25400" dir="5400000">
              <a:srgbClr val="000000">
                <a:alpha val="12000"/>
              </a:srgbClr>
            </a:outerShdw>
          </a:effectLst>
        </p:spPr>
      </p:sp>
      <p:sp>
        <p:nvSpPr>
          <p:cNvPr id="22" name="Stat value 4"/>
          <p:cNvSpPr txBox="1"/>
          <p:nvPr/>
        </p:nvSpPr>
        <p:spPr>
          <a:xfrm>
            <a:off x="9555480" y="4937760"/>
            <a:ext cx="1993392" cy="594360"/>
          </a:xfrm>
          <a:prstGeom prst="rect">
            <a:avLst/>
          </a:prstGeom>
          <a:noFill/>
          <a:ln/>
        </p:spPr>
        <p:txBody>
          <a:bodyPr wrap="square" lIns="0" tIns="0" rIns="0" bIns="0" rtlCol="0" anchor="ctr"/>
          <a:lstStyle/>
          <a:p>
            <a:pPr algn="ctr" indent="0" marL="0">
              <a:buNone/>
            </a:pPr>
            <a:r>
              <a:rPr lang="en-US" sz="2400" b="1" dirty="0">
                <a:solidFill>
                  <a:schemeClr val="accent1"/>
                </a:solidFill>
              </a:rPr>
              <a:t>0</a:t>
            </a:r>
            <a:endParaRPr lang="en-US" sz="2400" dirty="0"/>
          </a:p>
        </p:txBody>
      </p:sp>
      <p:sp>
        <p:nvSpPr>
          <p:cNvPr id="23" name="Stat caption 4"/>
          <p:cNvSpPr txBox="1"/>
          <p:nvPr/>
        </p:nvSpPr>
        <p:spPr>
          <a:xfrm>
            <a:off x="9555480" y="5577840"/>
            <a:ext cx="1993392" cy="502920"/>
          </a:xfrm>
          <a:prstGeom prst="rect">
            <a:avLst/>
          </a:prstGeom>
          <a:noFill/>
          <a:ln/>
        </p:spPr>
        <p:txBody>
          <a:bodyPr wrap="square" lIns="0" tIns="0" rIns="0" bIns="0" rtlCol="0" anchor="t"/>
          <a:lstStyle/>
          <a:p>
            <a:pPr algn="ctr" indent="0" marL="0">
              <a:buNone/>
            </a:pPr>
            <a:r>
              <a:rPr lang="en-US" sz="1400" dirty="0">
                <a:solidFill>
                  <a:schemeClr val="tx1"/>
                </a:solidFill>
              </a:rPr>
              <a:t>duplicate records</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rPr>
              <a:t>Exploratory Data Analysis</a:t>
            </a:r>
            <a:endParaRPr lang="en-US" sz="3400" dirty="0"/>
          </a:p>
        </p:txBody>
      </p:sp>
      <p:sp>
        <p:nvSpPr>
          <p:cNvPr id="3" name="Pandas chip"/>
          <p:cNvSpPr/>
          <p:nvPr/>
        </p:nvSpPr>
        <p:spPr>
          <a:xfrm>
            <a:off x="548640" y="1325880"/>
            <a:ext cx="3520440" cy="548640"/>
          </a:xfrm>
          <a:prstGeom prst="roundRect">
            <a:avLst>
              <a:gd name="adj" fmla="val 16667"/>
            </a:avLst>
          </a:prstGeom>
          <a:solidFill>
            <a:schemeClr val="accent1"/>
          </a:solidFill>
          <a:ln/>
        </p:spPr>
      </p:sp>
      <p:sp>
        <p:nvSpPr>
          <p:cNvPr id="4" name="Pandas chip text"/>
          <p:cNvSpPr txBox="1"/>
          <p:nvPr/>
        </p:nvSpPr>
        <p:spPr>
          <a:xfrm>
            <a:off x="548640" y="1325880"/>
            <a:ext cx="3520440" cy="548640"/>
          </a:xfrm>
          <a:prstGeom prst="rect">
            <a:avLst/>
          </a:prstGeom>
          <a:noFill/>
          <a:ln/>
        </p:spPr>
        <p:txBody>
          <a:bodyPr wrap="square" lIns="0" tIns="0" rIns="0" bIns="0" rtlCol="0" anchor="ctr"/>
          <a:lstStyle/>
          <a:p>
            <a:pPr algn="ctr" indent="0" marL="0">
              <a:buNone/>
            </a:pPr>
            <a:r>
              <a:rPr lang="en-US" sz="1200" b="1" dirty="0">
                <a:solidFill>
                  <a:schemeClr val="bg1"/>
                </a:solidFill>
              </a:rPr>
              <a:t>Pandas: groupby, agg, pivot, cut, qcut, corr</a:t>
            </a:r>
            <a:endParaRPr lang="en-US" sz="1200" dirty="0"/>
          </a:p>
        </p:txBody>
      </p:sp>
      <p:sp>
        <p:nvSpPr>
          <p:cNvPr id="5" name="NumPy chip"/>
          <p:cNvSpPr/>
          <p:nvPr/>
        </p:nvSpPr>
        <p:spPr>
          <a:xfrm>
            <a:off x="4251960" y="1325880"/>
            <a:ext cx="2651760" cy="548640"/>
          </a:xfrm>
          <a:prstGeom prst="roundRect">
            <a:avLst>
              <a:gd name="adj" fmla="val 16667"/>
            </a:avLst>
          </a:prstGeom>
          <a:solidFill>
            <a:schemeClr val="tx2"/>
          </a:solidFill>
          <a:ln/>
        </p:spPr>
      </p:sp>
      <p:sp>
        <p:nvSpPr>
          <p:cNvPr id="6" name="NumPy chip text"/>
          <p:cNvSpPr txBox="1"/>
          <p:nvPr/>
        </p:nvSpPr>
        <p:spPr>
          <a:xfrm>
            <a:off x="4251960" y="1325880"/>
            <a:ext cx="2651760" cy="548640"/>
          </a:xfrm>
          <a:prstGeom prst="rect">
            <a:avLst/>
          </a:prstGeom>
          <a:noFill/>
          <a:ln/>
        </p:spPr>
        <p:txBody>
          <a:bodyPr wrap="square" lIns="0" tIns="0" rIns="0" bIns="0" rtlCol="0" anchor="ctr"/>
          <a:lstStyle/>
          <a:p>
            <a:pPr algn="ctr" indent="0" marL="0">
              <a:buNone/>
            </a:pPr>
            <a:r>
              <a:rPr lang="en-US" sz="1200" b="1" dirty="0">
                <a:solidFill>
                  <a:schemeClr val="bg1"/>
                </a:solidFill>
              </a:rPr>
              <a:t>NumPy: nan, inf, triu</a:t>
            </a:r>
            <a:endParaRPr lang="en-US" sz="1200" dirty="0"/>
          </a:p>
        </p:txBody>
      </p:sp>
      <p:sp>
        <p:nvSpPr>
          <p:cNvPr id="7" name="Finding row 1"/>
          <p:cNvSpPr/>
          <p:nvPr/>
        </p:nvSpPr>
        <p:spPr>
          <a:xfrm>
            <a:off x="548640" y="2103120"/>
            <a:ext cx="6355080" cy="594360"/>
          </a:xfrm>
          <a:prstGeom prst="roundRect">
            <a:avLst>
              <a:gd name="adj" fmla="val 18462"/>
            </a:avLst>
          </a:prstGeom>
          <a:solidFill>
            <a:schemeClr val="bg2"/>
          </a:solidFill>
          <a:ln/>
          <a:effectLst>
            <a:outerShdw sx="100000" sy="100000" kx="0" ky="0" algn="bl" rotWithShape="0" blurRad="76200" dist="25400" dir="5400000">
              <a:srgbClr val="000000">
                <a:alpha val="12000"/>
              </a:srgbClr>
            </a:outerShdw>
          </a:effectLst>
        </p:spPr>
      </p:sp>
      <p:sp>
        <p:nvSpPr>
          <p:cNvPr id="8" name="Finding label 1"/>
          <p:cNvSpPr txBox="1"/>
          <p:nvPr/>
        </p:nvSpPr>
        <p:spPr>
          <a:xfrm>
            <a:off x="685800" y="2103120"/>
            <a:ext cx="1417320" cy="594360"/>
          </a:xfrm>
          <a:prstGeom prst="rect">
            <a:avLst/>
          </a:prstGeom>
          <a:noFill/>
          <a:ln/>
        </p:spPr>
        <p:txBody>
          <a:bodyPr wrap="square" lIns="0" tIns="0" rIns="0" bIns="0" rtlCol="0" anchor="ctr"/>
          <a:lstStyle/>
          <a:p>
            <a:pPr indent="0" marL="0">
              <a:buNone/>
            </a:pPr>
            <a:r>
              <a:rPr lang="en-US" sz="1300" b="1" dirty="0">
                <a:solidFill>
                  <a:schemeClr val="accent1"/>
                </a:solidFill>
              </a:rPr>
              <a:t>Distribution</a:t>
            </a:r>
            <a:endParaRPr lang="en-US" sz="1300" dirty="0"/>
          </a:p>
        </p:txBody>
      </p:sp>
      <p:sp>
        <p:nvSpPr>
          <p:cNvPr id="9" name="Finding text 1"/>
          <p:cNvSpPr txBox="1"/>
          <p:nvPr/>
        </p:nvSpPr>
        <p:spPr>
          <a:xfrm>
            <a:off x="2103120" y="2103120"/>
            <a:ext cx="4709160" cy="594360"/>
          </a:xfrm>
          <a:prstGeom prst="rect">
            <a:avLst/>
          </a:prstGeom>
          <a:noFill/>
          <a:ln/>
        </p:spPr>
        <p:txBody>
          <a:bodyPr wrap="square" lIns="0" tIns="0" rIns="0" bIns="0" rtlCol="0" anchor="ctr"/>
          <a:lstStyle/>
          <a:p>
            <a:pPr indent="0" marL="0">
              <a:buNone/>
            </a:pPr>
            <a:r>
              <a:rPr lang="en-US" sz="1300" dirty="0">
                <a:solidFill>
                  <a:schemeClr val="tx1"/>
                </a:solidFill>
              </a:rPr>
              <a:t>31 of 200 country-years (15.5%) were contractions; 85% grew</a:t>
            </a:r>
            <a:endParaRPr lang="en-US" sz="1300" dirty="0"/>
          </a:p>
        </p:txBody>
      </p:sp>
      <p:sp>
        <p:nvSpPr>
          <p:cNvPr id="10" name="Finding row 2"/>
          <p:cNvSpPr/>
          <p:nvPr/>
        </p:nvSpPr>
        <p:spPr>
          <a:xfrm>
            <a:off x="548640" y="2788920"/>
            <a:ext cx="6355080" cy="594360"/>
          </a:xfrm>
          <a:prstGeom prst="roundRect">
            <a:avLst>
              <a:gd name="adj" fmla="val 18462"/>
            </a:avLst>
          </a:prstGeom>
          <a:solidFill>
            <a:schemeClr val="bg2"/>
          </a:solidFill>
          <a:ln/>
          <a:effectLst>
            <a:outerShdw sx="100000" sy="100000" kx="0" ky="0" algn="bl" rotWithShape="0" blurRad="76200" dist="25400" dir="5400000">
              <a:srgbClr val="000000">
                <a:alpha val="12000"/>
              </a:srgbClr>
            </a:outerShdw>
          </a:effectLst>
        </p:spPr>
      </p:sp>
      <p:sp>
        <p:nvSpPr>
          <p:cNvPr id="11" name="Finding label 2"/>
          <p:cNvSpPr txBox="1"/>
          <p:nvPr/>
        </p:nvSpPr>
        <p:spPr>
          <a:xfrm>
            <a:off x="685800" y="2788920"/>
            <a:ext cx="1417320" cy="594360"/>
          </a:xfrm>
          <a:prstGeom prst="rect">
            <a:avLst/>
          </a:prstGeom>
          <a:noFill/>
          <a:ln/>
        </p:spPr>
        <p:txBody>
          <a:bodyPr wrap="square" lIns="0" tIns="0" rIns="0" bIns="0" rtlCol="0" anchor="ctr"/>
          <a:lstStyle/>
          <a:p>
            <a:pPr indent="0" marL="0">
              <a:buNone/>
            </a:pPr>
            <a:r>
              <a:rPr lang="en-US" sz="1300" b="1" dirty="0">
                <a:solidFill>
                  <a:schemeClr val="accent1"/>
                </a:solidFill>
              </a:rPr>
              <a:t>Country profile</a:t>
            </a:r>
            <a:endParaRPr lang="en-US" sz="1300" dirty="0"/>
          </a:p>
        </p:txBody>
      </p:sp>
      <p:sp>
        <p:nvSpPr>
          <p:cNvPr id="12" name="Finding text 2"/>
          <p:cNvSpPr txBox="1"/>
          <p:nvPr/>
        </p:nvSpPr>
        <p:spPr>
          <a:xfrm>
            <a:off x="2103120" y="2788920"/>
            <a:ext cx="4709160" cy="594360"/>
          </a:xfrm>
          <a:prstGeom prst="rect">
            <a:avLst/>
          </a:prstGeom>
          <a:noFill/>
          <a:ln/>
        </p:spPr>
        <p:txBody>
          <a:bodyPr wrap="square" lIns="0" tIns="0" rIns="0" bIns="0" rtlCol="0" anchor="ctr"/>
          <a:lstStyle/>
          <a:p>
            <a:pPr indent="0" marL="0">
              <a:buNone/>
            </a:pPr>
            <a:r>
              <a:rPr lang="en-US" sz="1300" dirty="0">
                <a:solidFill>
                  <a:schemeClr val="tx1"/>
                </a:solidFill>
              </a:rPr>
              <a:t>Highest GNI per capita: Switzerland ($91,634). Lowest: India ($2,173)</a:t>
            </a:r>
            <a:endParaRPr lang="en-US" sz="1300" dirty="0"/>
          </a:p>
        </p:txBody>
      </p:sp>
      <p:sp>
        <p:nvSpPr>
          <p:cNvPr id="13" name="Finding row 3"/>
          <p:cNvSpPr/>
          <p:nvPr/>
        </p:nvSpPr>
        <p:spPr>
          <a:xfrm>
            <a:off x="548640" y="3474720"/>
            <a:ext cx="6355080" cy="594360"/>
          </a:xfrm>
          <a:prstGeom prst="roundRect">
            <a:avLst>
              <a:gd name="adj" fmla="val 18462"/>
            </a:avLst>
          </a:prstGeom>
          <a:solidFill>
            <a:schemeClr val="bg2"/>
          </a:solidFill>
          <a:ln/>
          <a:effectLst>
            <a:outerShdw sx="100000" sy="100000" kx="0" ky="0" algn="bl" rotWithShape="0" blurRad="76200" dist="25400" dir="5400000">
              <a:srgbClr val="000000">
                <a:alpha val="12000"/>
              </a:srgbClr>
            </a:outerShdw>
          </a:effectLst>
        </p:spPr>
      </p:sp>
      <p:sp>
        <p:nvSpPr>
          <p:cNvPr id="14" name="Finding label 3"/>
          <p:cNvSpPr txBox="1"/>
          <p:nvPr/>
        </p:nvSpPr>
        <p:spPr>
          <a:xfrm>
            <a:off x="685800" y="3474720"/>
            <a:ext cx="1417320" cy="594360"/>
          </a:xfrm>
          <a:prstGeom prst="rect">
            <a:avLst/>
          </a:prstGeom>
          <a:noFill/>
          <a:ln/>
        </p:spPr>
        <p:txBody>
          <a:bodyPr wrap="square" lIns="0" tIns="0" rIns="0" bIns="0" rtlCol="0" anchor="ctr"/>
          <a:lstStyle/>
          <a:p>
            <a:pPr indent="0" marL="0">
              <a:buNone/>
            </a:pPr>
            <a:r>
              <a:rPr lang="en-US" sz="1300" b="1" dirty="0">
                <a:solidFill>
                  <a:schemeClr val="accent1"/>
                </a:solidFill>
              </a:rPr>
              <a:t>Trend</a:t>
            </a:r>
            <a:endParaRPr lang="en-US" sz="1300" dirty="0"/>
          </a:p>
        </p:txBody>
      </p:sp>
      <p:sp>
        <p:nvSpPr>
          <p:cNvPr id="15" name="Finding text 3"/>
          <p:cNvSpPr txBox="1"/>
          <p:nvPr/>
        </p:nvSpPr>
        <p:spPr>
          <a:xfrm>
            <a:off x="2103120" y="3474720"/>
            <a:ext cx="4709160" cy="594360"/>
          </a:xfrm>
          <a:prstGeom prst="rect">
            <a:avLst/>
          </a:prstGeom>
          <a:noFill/>
          <a:ln/>
        </p:spPr>
        <p:txBody>
          <a:bodyPr wrap="square" lIns="0" tIns="0" rIns="0" bIns="0" rtlCol="0" anchor="ctr"/>
          <a:lstStyle/>
          <a:p>
            <a:pPr indent="0" marL="0">
              <a:buNone/>
            </a:pPr>
            <a:r>
              <a:rPr lang="en-US" sz="1300" dirty="0">
                <a:solidFill>
                  <a:schemeClr val="tx1"/>
                </a:solidFill>
              </a:rPr>
              <a:t>Average growth: 1.79% (2019), -4.32% (2020), +6.56% (2021)</a:t>
            </a:r>
            <a:endParaRPr lang="en-US" sz="1300" dirty="0"/>
          </a:p>
        </p:txBody>
      </p:sp>
      <p:sp>
        <p:nvSpPr>
          <p:cNvPr id="16" name="Finding row 4"/>
          <p:cNvSpPr/>
          <p:nvPr/>
        </p:nvSpPr>
        <p:spPr>
          <a:xfrm>
            <a:off x="548640" y="4160520"/>
            <a:ext cx="6355080" cy="594360"/>
          </a:xfrm>
          <a:prstGeom prst="roundRect">
            <a:avLst>
              <a:gd name="adj" fmla="val 18462"/>
            </a:avLst>
          </a:prstGeom>
          <a:solidFill>
            <a:schemeClr val="bg2"/>
          </a:solidFill>
          <a:ln/>
          <a:effectLst>
            <a:outerShdw sx="100000" sy="100000" kx="0" ky="0" algn="bl" rotWithShape="0" blurRad="76200" dist="25400" dir="5400000">
              <a:srgbClr val="000000">
                <a:alpha val="12000"/>
              </a:srgbClr>
            </a:outerShdw>
          </a:effectLst>
        </p:spPr>
      </p:sp>
      <p:sp>
        <p:nvSpPr>
          <p:cNvPr id="17" name="Finding label 4"/>
          <p:cNvSpPr txBox="1"/>
          <p:nvPr/>
        </p:nvSpPr>
        <p:spPr>
          <a:xfrm>
            <a:off x="685800" y="4160520"/>
            <a:ext cx="1417320" cy="594360"/>
          </a:xfrm>
          <a:prstGeom prst="rect">
            <a:avLst/>
          </a:prstGeom>
          <a:noFill/>
          <a:ln/>
        </p:spPr>
        <p:txBody>
          <a:bodyPr wrap="square" lIns="0" tIns="0" rIns="0" bIns="0" rtlCol="0" anchor="ctr"/>
          <a:lstStyle/>
          <a:p>
            <a:pPr indent="0" marL="0">
              <a:buNone/>
            </a:pPr>
            <a:r>
              <a:rPr lang="en-US" sz="1300" b="1" dirty="0">
                <a:solidFill>
                  <a:schemeClr val="accent1"/>
                </a:solidFill>
              </a:rPr>
              <a:t>Outliers</a:t>
            </a:r>
            <a:endParaRPr lang="en-US" sz="1300" dirty="0"/>
          </a:p>
        </p:txBody>
      </p:sp>
      <p:sp>
        <p:nvSpPr>
          <p:cNvPr id="18" name="Finding text 4"/>
          <p:cNvSpPr txBox="1"/>
          <p:nvPr/>
        </p:nvSpPr>
        <p:spPr>
          <a:xfrm>
            <a:off x="2103120" y="4160520"/>
            <a:ext cx="4709160" cy="594360"/>
          </a:xfrm>
          <a:prstGeom prst="rect">
            <a:avLst/>
          </a:prstGeom>
          <a:noFill/>
          <a:ln/>
        </p:spPr>
        <p:txBody>
          <a:bodyPr wrap="square" lIns="0" tIns="0" rIns="0" bIns="0" rtlCol="0" anchor="ctr"/>
          <a:lstStyle/>
          <a:p>
            <a:pPr indent="0" marL="0">
              <a:buNone/>
            </a:pPr>
            <a:r>
              <a:rPr lang="en-US" sz="1300" dirty="0">
                <a:solidFill>
                  <a:schemeClr val="tx1"/>
                </a:solidFill>
              </a:rPr>
              <a:t>25 inflation outliers, mostly Argentina and Turkiye</a:t>
            </a:r>
            <a:endParaRPr lang="en-US" sz="1300" dirty="0"/>
          </a:p>
        </p:txBody>
      </p:sp>
      <p:sp>
        <p:nvSpPr>
          <p:cNvPr id="19" name="Finding row 5"/>
          <p:cNvSpPr/>
          <p:nvPr/>
        </p:nvSpPr>
        <p:spPr>
          <a:xfrm>
            <a:off x="548640" y="4846320"/>
            <a:ext cx="6355080" cy="594360"/>
          </a:xfrm>
          <a:prstGeom prst="roundRect">
            <a:avLst>
              <a:gd name="adj" fmla="val 18462"/>
            </a:avLst>
          </a:prstGeom>
          <a:solidFill>
            <a:schemeClr val="bg2"/>
          </a:solidFill>
          <a:ln/>
          <a:effectLst>
            <a:outerShdw sx="100000" sy="100000" kx="0" ky="0" algn="bl" rotWithShape="0" blurRad="76200" dist="25400" dir="5400000">
              <a:srgbClr val="000000">
                <a:alpha val="12000"/>
              </a:srgbClr>
            </a:outerShdw>
          </a:effectLst>
        </p:spPr>
      </p:sp>
      <p:sp>
        <p:nvSpPr>
          <p:cNvPr id="20" name="Finding label 5"/>
          <p:cNvSpPr txBox="1"/>
          <p:nvPr/>
        </p:nvSpPr>
        <p:spPr>
          <a:xfrm>
            <a:off x="685800" y="4846320"/>
            <a:ext cx="1417320" cy="594360"/>
          </a:xfrm>
          <a:prstGeom prst="rect">
            <a:avLst/>
          </a:prstGeom>
          <a:noFill/>
          <a:ln/>
        </p:spPr>
        <p:txBody>
          <a:bodyPr wrap="square" lIns="0" tIns="0" rIns="0" bIns="0" rtlCol="0" anchor="ctr"/>
          <a:lstStyle/>
          <a:p>
            <a:pPr indent="0" marL="0">
              <a:buNone/>
            </a:pPr>
            <a:r>
              <a:rPr lang="en-US" sz="1300" b="1" dirty="0">
                <a:solidFill>
                  <a:schemeClr val="accent1"/>
                </a:solidFill>
              </a:rPr>
              <a:t>Income tiers</a:t>
            </a:r>
            <a:endParaRPr lang="en-US" sz="1300" dirty="0"/>
          </a:p>
        </p:txBody>
      </p:sp>
      <p:sp>
        <p:nvSpPr>
          <p:cNvPr id="21" name="Finding text 5"/>
          <p:cNvSpPr txBox="1"/>
          <p:nvPr/>
        </p:nvSpPr>
        <p:spPr>
          <a:xfrm>
            <a:off x="2103120" y="4846320"/>
            <a:ext cx="4709160" cy="594360"/>
          </a:xfrm>
          <a:prstGeom prst="rect">
            <a:avLst/>
          </a:prstGeom>
          <a:noFill/>
          <a:ln/>
        </p:spPr>
        <p:txBody>
          <a:bodyPr wrap="square" lIns="0" tIns="0" rIns="0" bIns="0" rtlCol="0" anchor="ctr"/>
          <a:lstStyle/>
          <a:p>
            <a:pPr indent="0" marL="0">
              <a:buNone/>
            </a:pPr>
            <a:r>
              <a:rPr lang="en-US" sz="1300" dirty="0">
                <a:solidFill>
                  <a:schemeClr val="tx1"/>
                </a:solidFill>
              </a:rPr>
              <a:t>Lower tier grew 3.34% a year; Upper tier 1.70%</a:t>
            </a:r>
            <a:endParaRPr lang="en-US" sz="1300" dirty="0"/>
          </a:p>
        </p:txBody>
      </p:sp>
      <p:sp>
        <p:nvSpPr>
          <p:cNvPr id="22" name="Finding row 6"/>
          <p:cNvSpPr/>
          <p:nvPr/>
        </p:nvSpPr>
        <p:spPr>
          <a:xfrm>
            <a:off x="548640" y="5532120"/>
            <a:ext cx="6355080" cy="594360"/>
          </a:xfrm>
          <a:prstGeom prst="roundRect">
            <a:avLst>
              <a:gd name="adj" fmla="val 18462"/>
            </a:avLst>
          </a:prstGeom>
          <a:solidFill>
            <a:schemeClr val="bg2"/>
          </a:solidFill>
          <a:ln/>
          <a:effectLst>
            <a:outerShdw sx="100000" sy="100000" kx="0" ky="0" algn="bl" rotWithShape="0" blurRad="76200" dist="25400" dir="5400000">
              <a:srgbClr val="000000">
                <a:alpha val="12000"/>
              </a:srgbClr>
            </a:outerShdw>
          </a:effectLst>
        </p:spPr>
      </p:sp>
      <p:sp>
        <p:nvSpPr>
          <p:cNvPr id="23" name="Finding label 6"/>
          <p:cNvSpPr txBox="1"/>
          <p:nvPr/>
        </p:nvSpPr>
        <p:spPr>
          <a:xfrm>
            <a:off x="685800" y="5532120"/>
            <a:ext cx="1417320" cy="594360"/>
          </a:xfrm>
          <a:prstGeom prst="rect">
            <a:avLst/>
          </a:prstGeom>
          <a:noFill/>
          <a:ln/>
        </p:spPr>
        <p:txBody>
          <a:bodyPr wrap="square" lIns="0" tIns="0" rIns="0" bIns="0" rtlCol="0" anchor="ctr"/>
          <a:lstStyle/>
          <a:p>
            <a:pPr indent="0" marL="0">
              <a:buNone/>
            </a:pPr>
            <a:r>
              <a:rPr lang="en-US" sz="1300" b="1" dirty="0">
                <a:solidFill>
                  <a:schemeClr val="accent1"/>
                </a:solidFill>
              </a:rPr>
              <a:t>Correlation</a:t>
            </a:r>
            <a:endParaRPr lang="en-US" sz="1300" dirty="0"/>
          </a:p>
        </p:txBody>
      </p:sp>
      <p:sp>
        <p:nvSpPr>
          <p:cNvPr id="24" name="Finding text 6"/>
          <p:cNvSpPr txBox="1"/>
          <p:nvPr/>
        </p:nvSpPr>
        <p:spPr>
          <a:xfrm>
            <a:off x="2103120" y="5532120"/>
            <a:ext cx="4709160" cy="594360"/>
          </a:xfrm>
          <a:prstGeom prst="rect">
            <a:avLst/>
          </a:prstGeom>
          <a:noFill/>
          <a:ln/>
        </p:spPr>
        <p:txBody>
          <a:bodyPr wrap="square" lIns="0" tIns="0" rIns="0" bIns="0" rtlCol="0" anchor="ctr"/>
          <a:lstStyle/>
          <a:p>
            <a:pPr indent="0" marL="0">
              <a:buNone/>
            </a:pPr>
            <a:r>
              <a:rPr lang="en-US" sz="1300" dirty="0">
                <a:solidFill>
                  <a:schemeClr val="tx1"/>
                </a:solidFill>
              </a:rPr>
              <a:t>Exports and imports (% of GDP): 0.98</a:t>
            </a:r>
            <a:endParaRPr lang="en-US" sz="1300" dirty="0"/>
          </a:p>
        </p:txBody>
      </p:sp>
      <p:pic>
        <p:nvPicPr>
          <p:cNvPr id="25" name="Screenshot profile" descr="Notebook output: average profile of each country sorted by GNI per capita">    </p:cNvPr>
          <p:cNvPicPr>
            <a:picLocks noChangeAspect="1"/>
          </p:cNvPicPr>
          <p:nvPr/>
        </p:nvPicPr>
        <p:blipFill>
          <a:blip r:embed="rId1"/>
          <a:stretch>
            <a:fillRect/>
          </a:stretch>
        </p:blipFill>
        <p:spPr>
          <a:xfrm>
            <a:off x="7190269" y="1325880"/>
            <a:ext cx="4437813" cy="3200400"/>
          </a:xfrm>
          <a:prstGeom prst="rect">
            <a:avLst/>
          </a:prstGeom>
        </p:spPr>
      </p:pic>
      <p:sp>
        <p:nvSpPr>
          <p:cNvPr id="26" name="Screenshot frame profile"/>
          <p:cNvSpPr/>
          <p:nvPr/>
        </p:nvSpPr>
        <p:spPr>
          <a:xfrm>
            <a:off x="7190269" y="1325880"/>
            <a:ext cx="4437813" cy="3200400"/>
          </a:xfrm>
          <a:prstGeom prst="rect">
            <a:avLst/>
          </a:prstGeom>
          <a:ln w="12700">
            <a:solidFill>
              <a:schemeClr val="accent5"/>
            </a:solidFill>
            <a:prstDash val="solid"/>
          </a:ln>
        </p:spPr>
      </p:sp>
      <p:pic>
        <p:nvPicPr>
          <p:cNvPr id="27" name="Screenshot tiers" descr="Notebook output: average indicators for the Lower, Middle and Upper income tiers">    </p:cNvPr>
          <p:cNvPicPr>
            <a:picLocks noChangeAspect="1"/>
          </p:cNvPicPr>
          <p:nvPr/>
        </p:nvPicPr>
        <p:blipFill>
          <a:blip r:embed="rId2"/>
          <a:stretch>
            <a:fillRect/>
          </a:stretch>
        </p:blipFill>
        <p:spPr>
          <a:xfrm>
            <a:off x="7302479" y="4709160"/>
            <a:ext cx="4213393" cy="1737360"/>
          </a:xfrm>
          <a:prstGeom prst="rect">
            <a:avLst/>
          </a:prstGeom>
        </p:spPr>
      </p:pic>
      <p:sp>
        <p:nvSpPr>
          <p:cNvPr id="28" name="Screenshot frame tiers"/>
          <p:cNvSpPr/>
          <p:nvPr/>
        </p:nvSpPr>
        <p:spPr>
          <a:xfrm>
            <a:off x="7302479" y="4709160"/>
            <a:ext cx="4213393" cy="1737360"/>
          </a:xfrm>
          <a:prstGeom prst="rect">
            <a:avLst/>
          </a:prstGeom>
          <a:ln w="12700">
            <a:solidFill>
              <a:schemeClr val="accent5"/>
            </a:solidFill>
            <a:prstDash val="solid"/>
          </a:ln>
        </p:spPr>
      </p:sp>
      <p:sp>
        <p:nvSpPr>
          <p:cNvPr id="29" name="EDA caption"/>
          <p:cNvSpPr txBox="1"/>
          <p:nvPr/>
        </p:nvSpPr>
        <p:spPr>
          <a:xfrm>
            <a:off x="7178040" y="6492240"/>
            <a:ext cx="4462272" cy="274320"/>
          </a:xfrm>
          <a:prstGeom prst="rect">
            <a:avLst/>
          </a:prstGeom>
          <a:noFill/>
          <a:ln/>
        </p:spPr>
        <p:txBody>
          <a:bodyPr wrap="square" lIns="0" tIns="0" rIns="0" bIns="0" rtlCol="0" anchor="t"/>
          <a:lstStyle/>
          <a:p>
            <a:pPr indent="0" marL="0">
              <a:buNone/>
            </a:pPr>
            <a:r>
              <a:rPr lang="en-US" sz="1000" dirty="0">
                <a:solidFill>
                  <a:schemeClr val="accent5"/>
                </a:solidFill>
              </a:rPr>
              <a:t>Notebook output: country profiles and income-tier averages.</a:t>
            </a:r>
            <a:endParaRPr lang="en-US" sz="10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rPr>
              <a:t>Data Visualization</a:t>
            </a:r>
            <a:endParaRPr lang="en-US" sz="3400" dirty="0"/>
          </a:p>
        </p:txBody>
      </p:sp>
      <p:sp>
        <p:nvSpPr>
          <p:cNvPr id="3" name="Chart card 1"/>
          <p:cNvSpPr/>
          <p:nvPr/>
        </p:nvSpPr>
        <p:spPr>
          <a:xfrm>
            <a:off x="548640" y="1280160"/>
            <a:ext cx="5376672" cy="2468880"/>
          </a:xfrm>
          <a:prstGeom prst="roundRect">
            <a:avLst>
              <a:gd name="adj" fmla="val 4444"/>
            </a:avLst>
          </a:prstGeom>
          <a:solidFill>
            <a:schemeClr val="bg2"/>
          </a:solidFill>
          <a:ln/>
          <a:effectLst>
            <a:outerShdw sx="100000" sy="100000" kx="0" ky="0" algn="bl" rotWithShape="0" blurRad="76200" dist="25400" dir="5400000">
              <a:srgbClr val="000000">
                <a:alpha val="12000"/>
              </a:srgbClr>
            </a:outerShdw>
          </a:effectLst>
        </p:spPr>
      </p:sp>
      <p:sp>
        <p:nvSpPr>
          <p:cNvPr id="4" name="Chart name 1"/>
          <p:cNvSpPr txBox="1"/>
          <p:nvPr/>
        </p:nvSpPr>
        <p:spPr>
          <a:xfrm>
            <a:off x="685800" y="1371600"/>
            <a:ext cx="5029200" cy="320040"/>
          </a:xfrm>
          <a:prstGeom prst="rect">
            <a:avLst/>
          </a:prstGeom>
          <a:noFill/>
          <a:ln/>
        </p:spPr>
        <p:txBody>
          <a:bodyPr wrap="square" lIns="0" tIns="0" rIns="0" bIns="0" rtlCol="0" anchor="t"/>
          <a:lstStyle/>
          <a:p>
            <a:pPr indent="0" marL="0">
              <a:buNone/>
            </a:pPr>
            <a:r>
              <a:rPr lang="en-US" sz="1400" b="1" dirty="0">
                <a:solidFill>
                  <a:schemeClr val="tx2"/>
                </a:solidFill>
              </a:rPr>
              <a:t>Distribution Analysis</a:t>
            </a:r>
            <a:endParaRPr lang="en-US" sz="1400" dirty="0"/>
          </a:p>
        </p:txBody>
      </p:sp>
      <p:pic>
        <p:nvPicPr>
          <p:cNvPr id="5" name="Chart image 1" descr="Four histograms of key indicators">    </p:cNvPr>
          <p:cNvPicPr>
            <a:picLocks noChangeAspect="1"/>
          </p:cNvPicPr>
          <p:nvPr/>
        </p:nvPicPr>
        <p:blipFill>
          <a:blip r:embed="rId1"/>
          <a:stretch>
            <a:fillRect/>
          </a:stretch>
        </p:blipFill>
        <p:spPr>
          <a:xfrm>
            <a:off x="754535" y="1737360"/>
            <a:ext cx="2788610" cy="1920240"/>
          </a:xfrm>
          <a:prstGeom prst="rect">
            <a:avLst/>
          </a:prstGeom>
        </p:spPr>
      </p:pic>
      <p:sp>
        <p:nvSpPr>
          <p:cNvPr id="6" name="Chart text 1"/>
          <p:cNvSpPr txBox="1"/>
          <p:nvPr/>
        </p:nvSpPr>
        <p:spPr>
          <a:xfrm>
            <a:off x="3749040" y="1737360"/>
            <a:ext cx="2057400" cy="1920240"/>
          </a:xfrm>
          <a:prstGeom prst="rect">
            <a:avLst/>
          </a:prstGeom>
          <a:noFill/>
          <a:ln/>
        </p:spPr>
        <p:txBody>
          <a:bodyPr wrap="square" lIns="0" tIns="0" rIns="0" bIns="0" rtlCol="0" anchor="t"/>
          <a:lstStyle/>
          <a:p>
            <a:pPr indent="0" marL="0">
              <a:spcAft>
                <a:spcPts val="500"/>
              </a:spcAft>
              <a:buNone/>
            </a:pPr>
            <a:r>
              <a:rPr lang="en-US" sz="1100" dirty="0">
                <a:solidFill>
                  <a:schemeClr val="tx1"/>
                </a:solidFill>
              </a:rPr>
              <a:t>Purpose: see how values are spread</a:t>
            </a:r>
            <a:endParaRPr lang="en-US" sz="1100" dirty="0"/>
          </a:p>
          <a:p>
            <a:pPr indent="0" marL="0">
              <a:spcAft>
                <a:spcPts val="500"/>
              </a:spcAft>
              <a:buNone/>
            </a:pPr>
            <a:r>
              <a:rPr lang="en-US" sz="1100" dirty="0">
                <a:solidFill>
                  <a:schemeClr val="tx1"/>
                </a:solidFill>
              </a:rPr>
              <a:t>Shows: histograms of GDP growth, inflation, GNI per capita and life expectancy</a:t>
            </a:r>
            <a:endParaRPr lang="en-US" sz="1100" dirty="0"/>
          </a:p>
          <a:p>
            <a:pPr indent="0" marL="0">
              <a:spcAft>
                <a:spcPts val="500"/>
              </a:spcAft>
              <a:buNone/>
            </a:pPr>
            <a:r>
              <a:rPr lang="en-US" sz="1100" b="1" dirty="0">
                <a:solidFill>
                  <a:schemeClr val="accent1"/>
                </a:solidFill>
              </a:rPr>
              <a:t>Insight: inflation is skewed, median 2.99 with a few extreme values</a:t>
            </a:r>
            <a:endParaRPr lang="en-US" sz="1100" dirty="0"/>
          </a:p>
        </p:txBody>
      </p:sp>
      <p:sp>
        <p:nvSpPr>
          <p:cNvPr id="7" name="Chart card 2"/>
          <p:cNvSpPr/>
          <p:nvPr/>
        </p:nvSpPr>
        <p:spPr>
          <a:xfrm>
            <a:off x="6263640" y="1280160"/>
            <a:ext cx="5376672" cy="2468880"/>
          </a:xfrm>
          <a:prstGeom prst="roundRect">
            <a:avLst>
              <a:gd name="adj" fmla="val 4444"/>
            </a:avLst>
          </a:prstGeom>
          <a:solidFill>
            <a:schemeClr val="bg2"/>
          </a:solidFill>
          <a:ln/>
          <a:effectLst>
            <a:outerShdw sx="100000" sy="100000" kx="0" ky="0" algn="bl" rotWithShape="0" blurRad="76200" dist="25400" dir="5400000">
              <a:srgbClr val="000000">
                <a:alpha val="12000"/>
              </a:srgbClr>
            </a:outerShdw>
          </a:effectLst>
        </p:spPr>
      </p:sp>
      <p:sp>
        <p:nvSpPr>
          <p:cNvPr id="8" name="Chart name 2"/>
          <p:cNvSpPr txBox="1"/>
          <p:nvPr/>
        </p:nvSpPr>
        <p:spPr>
          <a:xfrm>
            <a:off x="6400800" y="1371600"/>
            <a:ext cx="5029200" cy="320040"/>
          </a:xfrm>
          <a:prstGeom prst="rect">
            <a:avLst/>
          </a:prstGeom>
          <a:noFill/>
          <a:ln/>
        </p:spPr>
        <p:txBody>
          <a:bodyPr wrap="square" lIns="0" tIns="0" rIns="0" bIns="0" rtlCol="0" anchor="t"/>
          <a:lstStyle/>
          <a:p>
            <a:pPr indent="0" marL="0">
              <a:buNone/>
            </a:pPr>
            <a:r>
              <a:rPr lang="en-US" sz="1400" b="1" dirty="0">
                <a:solidFill>
                  <a:schemeClr val="tx2"/>
                </a:solidFill>
              </a:rPr>
              <a:t>Trend Analysis</a:t>
            </a:r>
            <a:endParaRPr lang="en-US" sz="1400" dirty="0"/>
          </a:p>
        </p:txBody>
      </p:sp>
      <p:pic>
        <p:nvPicPr>
          <p:cNvPr id="9" name="Chart image 2" descr="Line chart of GDP growth 2016 to 2025">    </p:cNvPr>
          <p:cNvPicPr>
            <a:picLocks noChangeAspect="1"/>
          </p:cNvPicPr>
          <p:nvPr/>
        </p:nvPicPr>
        <p:blipFill>
          <a:blip r:embed="rId2"/>
          <a:stretch>
            <a:fillRect/>
          </a:stretch>
        </p:blipFill>
        <p:spPr>
          <a:xfrm>
            <a:off x="6400800" y="1762919"/>
            <a:ext cx="2926080" cy="1869122"/>
          </a:xfrm>
          <a:prstGeom prst="rect">
            <a:avLst/>
          </a:prstGeom>
        </p:spPr>
      </p:pic>
      <p:sp>
        <p:nvSpPr>
          <p:cNvPr id="10" name="Chart text 2"/>
          <p:cNvSpPr txBox="1"/>
          <p:nvPr/>
        </p:nvSpPr>
        <p:spPr>
          <a:xfrm>
            <a:off x="9464040" y="1737360"/>
            <a:ext cx="2057400" cy="1920240"/>
          </a:xfrm>
          <a:prstGeom prst="rect">
            <a:avLst/>
          </a:prstGeom>
          <a:noFill/>
          <a:ln/>
        </p:spPr>
        <p:txBody>
          <a:bodyPr wrap="square" lIns="0" tIns="0" rIns="0" bIns="0" rtlCol="0" anchor="t"/>
          <a:lstStyle/>
          <a:p>
            <a:pPr indent="0" marL="0">
              <a:spcAft>
                <a:spcPts val="500"/>
              </a:spcAft>
              <a:buNone/>
            </a:pPr>
            <a:r>
              <a:rPr lang="en-US" sz="1100" dirty="0">
                <a:solidFill>
                  <a:schemeClr val="tx1"/>
                </a:solidFill>
              </a:rPr>
              <a:t>Purpose: track growth over time</a:t>
            </a:r>
            <a:endParaRPr lang="en-US" sz="1100" dirty="0"/>
          </a:p>
          <a:p>
            <a:pPr indent="0" marL="0">
              <a:spcAft>
                <a:spcPts val="500"/>
              </a:spcAft>
              <a:buNone/>
            </a:pPr>
            <a:r>
              <a:rPr lang="en-US" sz="1100" dirty="0">
                <a:solidFill>
                  <a:schemeClr val="tx1"/>
                </a:solidFill>
              </a:rPr>
              <a:t>Shows: GDP growth of all 20 countries, with the average in red</a:t>
            </a:r>
            <a:endParaRPr lang="en-US" sz="1100" dirty="0"/>
          </a:p>
          <a:p>
            <a:pPr indent="0" marL="0">
              <a:spcAft>
                <a:spcPts val="500"/>
              </a:spcAft>
              <a:buNone/>
            </a:pPr>
            <a:r>
              <a:rPr lang="en-US" sz="1100" b="1" dirty="0">
                <a:solidFill>
                  <a:schemeClr val="accent1"/>
                </a:solidFill>
              </a:rPr>
              <a:t>Insight: average fell to -4.32% in 2020, then rose to +6.56%</a:t>
            </a:r>
            <a:endParaRPr lang="en-US" sz="1100" dirty="0"/>
          </a:p>
        </p:txBody>
      </p:sp>
      <p:sp>
        <p:nvSpPr>
          <p:cNvPr id="11" name="Chart card 3"/>
          <p:cNvSpPr/>
          <p:nvPr/>
        </p:nvSpPr>
        <p:spPr>
          <a:xfrm>
            <a:off x="548640" y="3886200"/>
            <a:ext cx="5376672" cy="2468880"/>
          </a:xfrm>
          <a:prstGeom prst="roundRect">
            <a:avLst>
              <a:gd name="adj" fmla="val 4444"/>
            </a:avLst>
          </a:prstGeom>
          <a:solidFill>
            <a:schemeClr val="bg2"/>
          </a:solidFill>
          <a:ln/>
          <a:effectLst>
            <a:outerShdw sx="100000" sy="100000" kx="0" ky="0" algn="bl" rotWithShape="0" blurRad="76200" dist="25400" dir="5400000">
              <a:srgbClr val="000000">
                <a:alpha val="12000"/>
              </a:srgbClr>
            </a:outerShdw>
          </a:effectLst>
        </p:spPr>
      </p:sp>
      <p:sp>
        <p:nvSpPr>
          <p:cNvPr id="12" name="Chart name 3"/>
          <p:cNvSpPr txBox="1"/>
          <p:nvPr/>
        </p:nvSpPr>
        <p:spPr>
          <a:xfrm>
            <a:off x="685800" y="3977640"/>
            <a:ext cx="5029200" cy="320040"/>
          </a:xfrm>
          <a:prstGeom prst="rect">
            <a:avLst/>
          </a:prstGeom>
          <a:noFill/>
          <a:ln/>
        </p:spPr>
        <p:txBody>
          <a:bodyPr wrap="square" lIns="0" tIns="0" rIns="0" bIns="0" rtlCol="0" anchor="t"/>
          <a:lstStyle/>
          <a:p>
            <a:pPr indent="0" marL="0">
              <a:buNone/>
            </a:pPr>
            <a:r>
              <a:rPr lang="en-US" sz="1400" b="1" dirty="0">
                <a:solidFill>
                  <a:schemeClr val="tx2"/>
                </a:solidFill>
              </a:rPr>
              <a:t>Category Analysis</a:t>
            </a:r>
            <a:endParaRPr lang="en-US" sz="1400" dirty="0"/>
          </a:p>
        </p:txBody>
      </p:sp>
      <p:pic>
        <p:nvPicPr>
          <p:cNvPr id="13" name="Chart image 3" descr="Bar charts by country coloured by income tier">    </p:cNvPr>
          <p:cNvPicPr>
            <a:picLocks noChangeAspect="1"/>
          </p:cNvPicPr>
          <p:nvPr/>
        </p:nvPicPr>
        <p:blipFill>
          <a:blip r:embed="rId3"/>
          <a:stretch>
            <a:fillRect/>
          </a:stretch>
        </p:blipFill>
        <p:spPr>
          <a:xfrm>
            <a:off x="685800" y="4628623"/>
            <a:ext cx="2926080" cy="1349794"/>
          </a:xfrm>
          <a:prstGeom prst="rect">
            <a:avLst/>
          </a:prstGeom>
        </p:spPr>
      </p:pic>
      <p:sp>
        <p:nvSpPr>
          <p:cNvPr id="14" name="Chart text 3"/>
          <p:cNvSpPr txBox="1"/>
          <p:nvPr/>
        </p:nvSpPr>
        <p:spPr>
          <a:xfrm>
            <a:off x="3749040" y="4343400"/>
            <a:ext cx="2057400" cy="1920240"/>
          </a:xfrm>
          <a:prstGeom prst="rect">
            <a:avLst/>
          </a:prstGeom>
          <a:noFill/>
          <a:ln/>
        </p:spPr>
        <p:txBody>
          <a:bodyPr wrap="square" lIns="0" tIns="0" rIns="0" bIns="0" rtlCol="0" anchor="t"/>
          <a:lstStyle/>
          <a:p>
            <a:pPr indent="0" marL="0">
              <a:spcAft>
                <a:spcPts val="500"/>
              </a:spcAft>
              <a:buNone/>
            </a:pPr>
            <a:r>
              <a:rPr lang="en-US" sz="1100" dirty="0">
                <a:solidFill>
                  <a:schemeClr val="tx1"/>
                </a:solidFill>
              </a:rPr>
              <a:t>Purpose: compare countries by income tier</a:t>
            </a:r>
            <a:endParaRPr lang="en-US" sz="1100" dirty="0"/>
          </a:p>
          <a:p>
            <a:pPr indent="0" marL="0">
              <a:spcAft>
                <a:spcPts val="500"/>
              </a:spcAft>
              <a:buNone/>
            </a:pPr>
            <a:r>
              <a:rPr lang="en-US" sz="1100" dirty="0">
                <a:solidFill>
                  <a:schemeClr val="tx1"/>
                </a:solidFill>
              </a:rPr>
              <a:t>Shows: average GNI per capita and GDP growth by country, coloured by tier</a:t>
            </a:r>
            <a:endParaRPr lang="en-US" sz="1100" dirty="0"/>
          </a:p>
          <a:p>
            <a:pPr indent="0" marL="0">
              <a:spcAft>
                <a:spcPts val="500"/>
              </a:spcAft>
              <a:buNone/>
            </a:pPr>
            <a:r>
              <a:rPr lang="en-US" sz="1100" b="1" dirty="0">
                <a:solidFill>
                  <a:schemeClr val="accent1"/>
                </a:solidFill>
              </a:rPr>
              <a:t>Insight: lower-income countries grow faster, India 5.88% and China 5.59%</a:t>
            </a:r>
            <a:endParaRPr lang="en-US" sz="1100" dirty="0"/>
          </a:p>
        </p:txBody>
      </p:sp>
      <p:sp>
        <p:nvSpPr>
          <p:cNvPr id="15" name="Chart card 4"/>
          <p:cNvSpPr/>
          <p:nvPr/>
        </p:nvSpPr>
        <p:spPr>
          <a:xfrm>
            <a:off x="6263640" y="3886200"/>
            <a:ext cx="5376672" cy="2468880"/>
          </a:xfrm>
          <a:prstGeom prst="roundRect">
            <a:avLst>
              <a:gd name="adj" fmla="val 4444"/>
            </a:avLst>
          </a:prstGeom>
          <a:solidFill>
            <a:schemeClr val="bg2"/>
          </a:solidFill>
          <a:ln/>
          <a:effectLst>
            <a:outerShdw sx="100000" sy="100000" kx="0" ky="0" algn="bl" rotWithShape="0" blurRad="76200" dist="25400" dir="5400000">
              <a:srgbClr val="000000">
                <a:alpha val="12000"/>
              </a:srgbClr>
            </a:outerShdw>
          </a:effectLst>
        </p:spPr>
      </p:sp>
      <p:sp>
        <p:nvSpPr>
          <p:cNvPr id="16" name="Chart name 4"/>
          <p:cNvSpPr txBox="1"/>
          <p:nvPr/>
        </p:nvSpPr>
        <p:spPr>
          <a:xfrm>
            <a:off x="6400800" y="3977640"/>
            <a:ext cx="5029200" cy="320040"/>
          </a:xfrm>
          <a:prstGeom prst="rect">
            <a:avLst/>
          </a:prstGeom>
          <a:noFill/>
          <a:ln/>
        </p:spPr>
        <p:txBody>
          <a:bodyPr wrap="square" lIns="0" tIns="0" rIns="0" bIns="0" rtlCol="0" anchor="t"/>
          <a:lstStyle/>
          <a:p>
            <a:pPr indent="0" marL="0">
              <a:buNone/>
            </a:pPr>
            <a:r>
              <a:rPr lang="en-US" sz="1400" b="1" dirty="0">
                <a:solidFill>
                  <a:schemeClr val="tx2"/>
                </a:solidFill>
              </a:rPr>
              <a:t>Correlation Analysis</a:t>
            </a:r>
            <a:endParaRPr lang="en-US" sz="1400" dirty="0"/>
          </a:p>
        </p:txBody>
      </p:sp>
      <p:pic>
        <p:nvPicPr>
          <p:cNvPr id="17" name="Chart image 4" descr="Correlation heatmap of 14 indicators">    </p:cNvPr>
          <p:cNvPicPr>
            <a:picLocks noChangeAspect="1"/>
          </p:cNvPicPr>
          <p:nvPr/>
        </p:nvPicPr>
        <p:blipFill>
          <a:blip r:embed="rId4"/>
          <a:stretch>
            <a:fillRect/>
          </a:stretch>
        </p:blipFill>
        <p:spPr>
          <a:xfrm>
            <a:off x="6797673" y="4343400"/>
            <a:ext cx="2132335" cy="1920240"/>
          </a:xfrm>
          <a:prstGeom prst="rect">
            <a:avLst/>
          </a:prstGeom>
        </p:spPr>
      </p:pic>
      <p:sp>
        <p:nvSpPr>
          <p:cNvPr id="18" name="Chart text 4"/>
          <p:cNvSpPr txBox="1"/>
          <p:nvPr/>
        </p:nvSpPr>
        <p:spPr>
          <a:xfrm>
            <a:off x="9464040" y="4343400"/>
            <a:ext cx="2057400" cy="1920240"/>
          </a:xfrm>
          <a:prstGeom prst="rect">
            <a:avLst/>
          </a:prstGeom>
          <a:noFill/>
          <a:ln/>
        </p:spPr>
        <p:txBody>
          <a:bodyPr wrap="square" lIns="0" tIns="0" rIns="0" bIns="0" rtlCol="0" anchor="t"/>
          <a:lstStyle/>
          <a:p>
            <a:pPr indent="0" marL="0">
              <a:spcAft>
                <a:spcPts val="500"/>
              </a:spcAft>
              <a:buNone/>
            </a:pPr>
            <a:r>
              <a:rPr lang="en-US" sz="1100" dirty="0">
                <a:solidFill>
                  <a:schemeClr val="tx1"/>
                </a:solidFill>
              </a:rPr>
              <a:t>Purpose: find indicators that move together</a:t>
            </a:r>
            <a:endParaRPr lang="en-US" sz="1100" dirty="0"/>
          </a:p>
          <a:p>
            <a:pPr indent="0" marL="0">
              <a:spcAft>
                <a:spcPts val="500"/>
              </a:spcAft>
              <a:buNone/>
            </a:pPr>
            <a:r>
              <a:rPr lang="en-US" sz="1100" dirty="0">
                <a:solidFill>
                  <a:schemeClr val="tx1"/>
                </a:solidFill>
              </a:rPr>
              <a:t>Shows: heatmap of 14 indicators</a:t>
            </a:r>
            <a:endParaRPr lang="en-US" sz="1100" dirty="0"/>
          </a:p>
          <a:p>
            <a:pPr indent="0" marL="0">
              <a:spcAft>
                <a:spcPts val="500"/>
              </a:spcAft>
              <a:buNone/>
            </a:pPr>
            <a:r>
              <a:rPr lang="en-US" sz="1100" b="1" dirty="0">
                <a:solidFill>
                  <a:schemeClr val="accent1"/>
                </a:solidFill>
              </a:rPr>
              <a:t>Insight: exports and imports 0.98; GNI and life expectancy 0.72</a:t>
            </a:r>
            <a:endParaRPr lang="en-US" sz="11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400" b="1" dirty="0">
                <a:solidFill>
                  <a:schemeClr val="tx2"/>
                </a:solidFill>
              </a:rPr>
              <a:t>Key Insights &amp; Recommendations</a:t>
            </a:r>
            <a:endParaRPr lang="en-US" sz="3400" dirty="0"/>
          </a:p>
        </p:txBody>
      </p:sp>
      <p:sp>
        <p:nvSpPr>
          <p:cNvPr id="3" name="Insights card"/>
          <p:cNvSpPr/>
          <p:nvPr/>
        </p:nvSpPr>
        <p:spPr>
          <a:xfrm>
            <a:off x="548640" y="1280160"/>
            <a:ext cx="6858000" cy="5029200"/>
          </a:xfrm>
          <a:prstGeom prst="roundRect">
            <a:avLst>
              <a:gd name="adj" fmla="val 2182"/>
            </a:avLst>
          </a:prstGeom>
          <a:solidFill>
            <a:schemeClr val="bg2"/>
          </a:solidFill>
          <a:ln/>
          <a:effectLst>
            <a:outerShdw sx="100000" sy="100000" kx="0" ky="0" algn="bl" rotWithShape="0" blurRad="76200" dist="25400" dir="5400000">
              <a:srgbClr val="000000">
                <a:alpha val="12000"/>
              </a:srgbClr>
            </a:outerShdw>
          </a:effectLst>
        </p:spPr>
      </p:sp>
      <p:sp>
        <p:nvSpPr>
          <p:cNvPr id="4" name="Insights heading"/>
          <p:cNvSpPr txBox="1"/>
          <p:nvPr/>
        </p:nvSpPr>
        <p:spPr>
          <a:xfrm>
            <a:off x="777240" y="1371600"/>
            <a:ext cx="6400800" cy="365760"/>
          </a:xfrm>
          <a:prstGeom prst="rect">
            <a:avLst/>
          </a:prstGeom>
          <a:noFill/>
          <a:ln/>
        </p:spPr>
        <p:txBody>
          <a:bodyPr wrap="square" lIns="0" tIns="0" rIns="0" bIns="0" rtlCol="0" anchor="t"/>
          <a:lstStyle/>
          <a:p>
            <a:pPr indent="0" marL="0">
              <a:buNone/>
            </a:pPr>
            <a:r>
              <a:rPr lang="en-US" sz="1800" b="1" dirty="0">
                <a:solidFill>
                  <a:schemeClr val="accent1"/>
                </a:solidFill>
              </a:rPr>
              <a:t>Key insights</a:t>
            </a:r>
            <a:endParaRPr lang="en-US" sz="1800" dirty="0"/>
          </a:p>
        </p:txBody>
      </p:sp>
      <p:sp>
        <p:nvSpPr>
          <p:cNvPr id="5" name="Number 1"/>
          <p:cNvSpPr/>
          <p:nvPr/>
        </p:nvSpPr>
        <p:spPr>
          <a:xfrm>
            <a:off x="777240" y="1938528"/>
            <a:ext cx="384048" cy="384048"/>
          </a:xfrm>
          <a:prstGeom prst="ellipse">
            <a:avLst/>
          </a:prstGeom>
          <a:solidFill>
            <a:schemeClr val="accent1"/>
          </a:solidFill>
          <a:ln/>
        </p:spPr>
      </p:sp>
      <p:sp>
        <p:nvSpPr>
          <p:cNvPr id="6" name="Number 1 label"/>
          <p:cNvSpPr txBox="1"/>
          <p:nvPr/>
        </p:nvSpPr>
        <p:spPr>
          <a:xfrm>
            <a:off x="777240" y="1938528"/>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Insight 1"/>
          <p:cNvSpPr txBox="1"/>
          <p:nvPr/>
        </p:nvSpPr>
        <p:spPr>
          <a:xfrm>
            <a:off x="1371600" y="1828800"/>
            <a:ext cx="5852160" cy="658368"/>
          </a:xfrm>
          <a:prstGeom prst="rect">
            <a:avLst/>
          </a:prstGeom>
          <a:noFill/>
          <a:ln/>
        </p:spPr>
        <p:txBody>
          <a:bodyPr wrap="square" lIns="0" tIns="0" rIns="0" bIns="0" rtlCol="0" anchor="ctr"/>
          <a:lstStyle/>
          <a:p>
            <a:pPr indent="0" marL="0">
              <a:buNone/>
            </a:pPr>
            <a:r>
              <a:rPr lang="en-US" sz="1300" dirty="0">
                <a:solidFill>
                  <a:schemeClr val="tx1"/>
                </a:solidFill>
              </a:rPr>
              <a:t>COVID-19 was the shock: average growth went from 1.79% (2019) to -4.32% (2020) to +6.56% (2021)</a:t>
            </a:r>
            <a:endParaRPr lang="en-US" sz="1300" dirty="0"/>
          </a:p>
        </p:txBody>
      </p:sp>
      <p:sp>
        <p:nvSpPr>
          <p:cNvPr id="8" name="Number 2"/>
          <p:cNvSpPr/>
          <p:nvPr/>
        </p:nvSpPr>
        <p:spPr>
          <a:xfrm>
            <a:off x="777240" y="2670048"/>
            <a:ext cx="384048" cy="384048"/>
          </a:xfrm>
          <a:prstGeom prst="ellipse">
            <a:avLst/>
          </a:prstGeom>
          <a:solidFill>
            <a:schemeClr val="accent1"/>
          </a:solidFill>
          <a:ln/>
        </p:spPr>
      </p:sp>
      <p:sp>
        <p:nvSpPr>
          <p:cNvPr id="9" name="Number 2 label"/>
          <p:cNvSpPr txBox="1"/>
          <p:nvPr/>
        </p:nvSpPr>
        <p:spPr>
          <a:xfrm>
            <a:off x="777240" y="2670048"/>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Insight 2"/>
          <p:cNvSpPr txBox="1"/>
          <p:nvPr/>
        </p:nvSpPr>
        <p:spPr>
          <a:xfrm>
            <a:off x="1371600" y="2560320"/>
            <a:ext cx="5852160" cy="658368"/>
          </a:xfrm>
          <a:prstGeom prst="rect">
            <a:avLst/>
          </a:prstGeom>
          <a:noFill/>
          <a:ln/>
        </p:spPr>
        <p:txBody>
          <a:bodyPr wrap="square" lIns="0" tIns="0" rIns="0" bIns="0" rtlCol="0" anchor="ctr"/>
          <a:lstStyle/>
          <a:p>
            <a:pPr indent="0" marL="0">
              <a:buNone/>
            </a:pPr>
            <a:r>
              <a:rPr lang="en-US" sz="1300" dirty="0">
                <a:solidFill>
                  <a:schemeClr val="tx1"/>
                </a:solidFill>
              </a:rPr>
              <a:t>Only China (+2.34%) and Turkiye (+1.80%) still grew in 2020; Spain fell most (-10.94%)</a:t>
            </a:r>
            <a:endParaRPr lang="en-US" sz="1300" dirty="0"/>
          </a:p>
        </p:txBody>
      </p:sp>
      <p:sp>
        <p:nvSpPr>
          <p:cNvPr id="11" name="Number 3"/>
          <p:cNvSpPr/>
          <p:nvPr/>
        </p:nvSpPr>
        <p:spPr>
          <a:xfrm>
            <a:off x="777240" y="3401568"/>
            <a:ext cx="384048" cy="384048"/>
          </a:xfrm>
          <a:prstGeom prst="ellipse">
            <a:avLst/>
          </a:prstGeom>
          <a:solidFill>
            <a:schemeClr val="accent1"/>
          </a:solidFill>
          <a:ln/>
        </p:spPr>
      </p:sp>
      <p:sp>
        <p:nvSpPr>
          <p:cNvPr id="12" name="Number 3 label"/>
          <p:cNvSpPr txBox="1"/>
          <p:nvPr/>
        </p:nvSpPr>
        <p:spPr>
          <a:xfrm>
            <a:off x="777240" y="3401568"/>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Insight 3"/>
          <p:cNvSpPr txBox="1"/>
          <p:nvPr/>
        </p:nvSpPr>
        <p:spPr>
          <a:xfrm>
            <a:off x="1371600" y="3291840"/>
            <a:ext cx="5852160" cy="658368"/>
          </a:xfrm>
          <a:prstGeom prst="rect">
            <a:avLst/>
          </a:prstGeom>
          <a:noFill/>
          <a:ln/>
        </p:spPr>
        <p:txBody>
          <a:bodyPr wrap="square" lIns="0" tIns="0" rIns="0" bIns="0" rtlCol="0" anchor="ctr"/>
          <a:lstStyle/>
          <a:p>
            <a:pPr indent="0" marL="0">
              <a:buNone/>
            </a:pPr>
            <a:r>
              <a:rPr lang="en-US" sz="1300" dirty="0">
                <a:solidFill>
                  <a:schemeClr val="tx1"/>
                </a:solidFill>
              </a:rPr>
              <a:t>Richer is not faster: India (5.88%) and China (5.59%) grew fastest, Japan (0.51%) and Argentina (0.39%) slowest</a:t>
            </a:r>
            <a:endParaRPr lang="en-US" sz="1300" dirty="0"/>
          </a:p>
        </p:txBody>
      </p:sp>
      <p:sp>
        <p:nvSpPr>
          <p:cNvPr id="14" name="Number 4"/>
          <p:cNvSpPr/>
          <p:nvPr/>
        </p:nvSpPr>
        <p:spPr>
          <a:xfrm>
            <a:off x="777240" y="4133088"/>
            <a:ext cx="384048" cy="384048"/>
          </a:xfrm>
          <a:prstGeom prst="ellipse">
            <a:avLst/>
          </a:prstGeom>
          <a:solidFill>
            <a:schemeClr val="accent1"/>
          </a:solidFill>
          <a:ln/>
        </p:spPr>
      </p:sp>
      <p:sp>
        <p:nvSpPr>
          <p:cNvPr id="15" name="Number 4 label"/>
          <p:cNvSpPr txBox="1"/>
          <p:nvPr/>
        </p:nvSpPr>
        <p:spPr>
          <a:xfrm>
            <a:off x="777240" y="4133088"/>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6" name="Insight 4"/>
          <p:cNvSpPr txBox="1"/>
          <p:nvPr/>
        </p:nvSpPr>
        <p:spPr>
          <a:xfrm>
            <a:off x="1371600" y="4023360"/>
            <a:ext cx="5852160" cy="658368"/>
          </a:xfrm>
          <a:prstGeom prst="rect">
            <a:avLst/>
          </a:prstGeom>
          <a:noFill/>
          <a:ln/>
        </p:spPr>
        <p:txBody>
          <a:bodyPr wrap="square" lIns="0" tIns="0" rIns="0" bIns="0" rtlCol="0" anchor="ctr"/>
          <a:lstStyle/>
          <a:p>
            <a:pPr indent="0" marL="0">
              <a:buNone/>
            </a:pPr>
            <a:r>
              <a:rPr lang="en-US" sz="1300" dirty="0">
                <a:solidFill>
                  <a:schemeClr val="tx1"/>
                </a:solidFill>
              </a:rPr>
              <a:t>Inflation is uneven: Argentina averaged 70.47% (peak 207.61% in 2024), Turkiye 35.37%, all others under 9%</a:t>
            </a:r>
            <a:endParaRPr lang="en-US" sz="1300" dirty="0"/>
          </a:p>
        </p:txBody>
      </p:sp>
      <p:sp>
        <p:nvSpPr>
          <p:cNvPr id="17" name="Number 5"/>
          <p:cNvSpPr/>
          <p:nvPr/>
        </p:nvSpPr>
        <p:spPr>
          <a:xfrm>
            <a:off x="777240" y="4864608"/>
            <a:ext cx="384048" cy="384048"/>
          </a:xfrm>
          <a:prstGeom prst="ellipse">
            <a:avLst/>
          </a:prstGeom>
          <a:solidFill>
            <a:schemeClr val="accent1"/>
          </a:solidFill>
          <a:ln/>
        </p:spPr>
      </p:sp>
      <p:sp>
        <p:nvSpPr>
          <p:cNvPr id="18" name="Number 5 label"/>
          <p:cNvSpPr txBox="1"/>
          <p:nvPr/>
        </p:nvSpPr>
        <p:spPr>
          <a:xfrm>
            <a:off x="777240" y="4864608"/>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9" name="Insight 5"/>
          <p:cNvSpPr txBox="1"/>
          <p:nvPr/>
        </p:nvSpPr>
        <p:spPr>
          <a:xfrm>
            <a:off x="1371600" y="4754880"/>
            <a:ext cx="5852160" cy="658368"/>
          </a:xfrm>
          <a:prstGeom prst="rect">
            <a:avLst/>
          </a:prstGeom>
          <a:noFill/>
          <a:ln/>
        </p:spPr>
        <p:txBody>
          <a:bodyPr wrap="square" lIns="0" tIns="0" rIns="0" bIns="0" rtlCol="0" anchor="ctr"/>
          <a:lstStyle/>
          <a:p>
            <a:pPr indent="0" marL="0">
              <a:buNone/>
            </a:pPr>
            <a:r>
              <a:rPr lang="en-US" sz="1300" dirty="0">
                <a:solidFill>
                  <a:schemeClr val="tx1"/>
                </a:solidFill>
              </a:rPr>
              <a:t>Exports and imports (% of GDP) are almost perfectly correlated (0.98)</a:t>
            </a:r>
            <a:endParaRPr lang="en-US" sz="1300" dirty="0"/>
          </a:p>
        </p:txBody>
      </p:sp>
      <p:sp>
        <p:nvSpPr>
          <p:cNvPr id="20" name="Number 6"/>
          <p:cNvSpPr/>
          <p:nvPr/>
        </p:nvSpPr>
        <p:spPr>
          <a:xfrm>
            <a:off x="777240" y="5596128"/>
            <a:ext cx="384048" cy="384048"/>
          </a:xfrm>
          <a:prstGeom prst="ellipse">
            <a:avLst/>
          </a:prstGeom>
          <a:solidFill>
            <a:schemeClr val="accent1"/>
          </a:solidFill>
          <a:ln/>
        </p:spPr>
      </p:sp>
      <p:sp>
        <p:nvSpPr>
          <p:cNvPr id="21" name="Number 6 label"/>
          <p:cNvSpPr txBox="1"/>
          <p:nvPr/>
        </p:nvSpPr>
        <p:spPr>
          <a:xfrm>
            <a:off x="777240" y="5596128"/>
            <a:ext cx="384048" cy="384048"/>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22" name="Insight 6"/>
          <p:cNvSpPr txBox="1"/>
          <p:nvPr/>
        </p:nvSpPr>
        <p:spPr>
          <a:xfrm>
            <a:off x="1371600" y="5486400"/>
            <a:ext cx="5852160" cy="658368"/>
          </a:xfrm>
          <a:prstGeom prst="rect">
            <a:avLst/>
          </a:prstGeom>
          <a:noFill/>
          <a:ln/>
        </p:spPr>
        <p:txBody>
          <a:bodyPr wrap="square" lIns="0" tIns="0" rIns="0" bIns="0" rtlCol="0" anchor="ctr"/>
          <a:lstStyle/>
          <a:p>
            <a:pPr indent="0" marL="0">
              <a:buNone/>
            </a:pPr>
            <a:r>
              <a:rPr lang="en-US" sz="1300" dirty="0">
                <a:solidFill>
                  <a:schemeClr val="tx1"/>
                </a:solidFill>
              </a:rPr>
              <a:t>Higher income goes with longer life: GNI vs life expectancy 0.72; Upper tier 81.57 years, Lower 74.33</a:t>
            </a:r>
            <a:endParaRPr lang="en-US" sz="1300" dirty="0"/>
          </a:p>
        </p:txBody>
      </p:sp>
      <p:sp>
        <p:nvSpPr>
          <p:cNvPr id="23" name="Recommendations card"/>
          <p:cNvSpPr/>
          <p:nvPr/>
        </p:nvSpPr>
        <p:spPr>
          <a:xfrm>
            <a:off x="7680960" y="1280160"/>
            <a:ext cx="3959352" cy="5029200"/>
          </a:xfrm>
          <a:prstGeom prst="roundRect">
            <a:avLst>
              <a:gd name="adj" fmla="val 2771"/>
            </a:avLst>
          </a:prstGeom>
          <a:solidFill>
            <a:schemeClr val="tx2"/>
          </a:solidFill>
          <a:ln/>
          <a:effectLst>
            <a:outerShdw sx="100000" sy="100000" kx="0" ky="0" algn="bl" rotWithShape="0" blurRad="76200" dist="25400" dir="5400000">
              <a:srgbClr val="000000">
                <a:alpha val="12000"/>
              </a:srgbClr>
            </a:outerShdw>
          </a:effectLst>
        </p:spPr>
      </p:sp>
      <p:sp>
        <p:nvSpPr>
          <p:cNvPr id="24" name="FaLightbulb circle"/>
          <p:cNvSpPr/>
          <p:nvPr/>
        </p:nvSpPr>
        <p:spPr>
          <a:xfrm>
            <a:off x="7955280" y="1463040"/>
            <a:ext cx="594360" cy="594360"/>
          </a:xfrm>
          <a:prstGeom prst="ellipse">
            <a:avLst/>
          </a:prstGeom>
          <a:solidFill>
            <a:schemeClr val="accent2"/>
          </a:solidFill>
          <a:ln/>
        </p:spPr>
      </p:sp>
      <p:pic>
        <p:nvPicPr>
          <p:cNvPr id="25" name="FaLightbulb" descr="Lightbulb icon">    </p:cNvPr>
          <p:cNvPicPr>
            <a:picLocks noChangeAspect="1"/>
          </p:cNvPicPr>
          <p:nvPr/>
        </p:nvPicPr>
        <p:blipFill>
          <a:blip r:embed="rId1"/>
          <a:stretch>
            <a:fillRect/>
          </a:stretch>
        </p:blipFill>
        <p:spPr>
          <a:xfrm>
            <a:off x="8109814" y="1617574"/>
            <a:ext cx="285293" cy="285293"/>
          </a:xfrm>
          <a:prstGeom prst="rect">
            <a:avLst/>
          </a:prstGeom>
        </p:spPr>
      </p:pic>
      <p:sp>
        <p:nvSpPr>
          <p:cNvPr id="26" name="Recommendations heading"/>
          <p:cNvSpPr txBox="1"/>
          <p:nvPr/>
        </p:nvSpPr>
        <p:spPr>
          <a:xfrm>
            <a:off x="8686800" y="1463040"/>
            <a:ext cx="2834640" cy="594360"/>
          </a:xfrm>
          <a:prstGeom prst="rect">
            <a:avLst/>
          </a:prstGeom>
          <a:noFill/>
          <a:ln/>
        </p:spPr>
        <p:txBody>
          <a:bodyPr wrap="square" lIns="0" tIns="0" rIns="0" bIns="0" rtlCol="0" anchor="ctr"/>
          <a:lstStyle/>
          <a:p>
            <a:pPr indent="0" marL="0">
              <a:buNone/>
            </a:pPr>
            <a:r>
              <a:rPr lang="en-US" sz="1800" b="1" dirty="0">
                <a:solidFill>
                  <a:schemeClr val="bg1"/>
                </a:solidFill>
              </a:rPr>
              <a:t>Recommendations</a:t>
            </a:r>
            <a:endParaRPr lang="en-US" sz="1800" dirty="0"/>
          </a:p>
        </p:txBody>
      </p:sp>
      <p:sp>
        <p:nvSpPr>
          <p:cNvPr id="27" name="Recommendations bullets"/>
          <p:cNvSpPr txBox="1"/>
          <p:nvPr/>
        </p:nvSpPr>
        <p:spPr>
          <a:xfrm>
            <a:off x="7955280" y="2286000"/>
            <a:ext cx="3474720" cy="384048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bg1"/>
                </a:solidFill>
              </a:rPr>
              <a:t>Treat 2020 as an exceptional year: compare trends with and without it</a:t>
            </a:r>
            <a:endParaRPr lang="en-US" sz="1400" dirty="0"/>
          </a:p>
          <a:p>
            <a:pPr marL="342900" indent="-342900">
              <a:spcAft>
                <a:spcPts val="1000"/>
              </a:spcAft>
              <a:buSzPct val="100000"/>
              <a:buChar char="•"/>
            </a:pPr>
            <a:r>
              <a:rPr lang="en-US" sz="1400" dirty="0">
                <a:solidFill>
                  <a:schemeClr val="bg1"/>
                </a:solidFill>
              </a:rPr>
              <a:t>Analyse Argentina and Turkiye separately and use medians for inflation</a:t>
            </a:r>
            <a:endParaRPr lang="en-US" sz="1400" dirty="0"/>
          </a:p>
          <a:p>
            <a:pPr marL="342900" indent="-342900">
              <a:spcAft>
                <a:spcPts val="1000"/>
              </a:spcAft>
              <a:buSzPct val="100000"/>
              <a:buChar char="•"/>
            </a:pPr>
            <a:r>
              <a:rPr lang="en-US" sz="1400" dirty="0">
                <a:solidFill>
                  <a:schemeClr val="bg1"/>
                </a:solidFill>
              </a:rPr>
              <a:t>Compare countries within income tiers, not all 20 together</a:t>
            </a:r>
            <a:endParaRPr lang="en-US" sz="1400" dirty="0"/>
          </a:p>
          <a:p>
            <a:pPr marL="342900" indent="-342900">
              <a:spcAft>
                <a:spcPts val="1000"/>
              </a:spcAft>
              <a:buSzPct val="100000"/>
              <a:buChar char="•"/>
            </a:pPr>
            <a:r>
              <a:rPr lang="en-US" sz="1400" dirty="0">
                <a:solidFill>
                  <a:schemeClr val="bg1"/>
                </a:solidFill>
              </a:rPr>
              <a:t>Treat correlations as leads, not causes</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400" b="1" dirty="0">
                <a:solidFill>
                  <a:schemeClr val="bg1"/>
                </a:solidFill>
              </a:rPr>
              <a:t>Conclusion</a:t>
            </a:r>
            <a:endParaRPr lang="en-US" sz="3400" dirty="0"/>
          </a:p>
        </p:txBody>
      </p:sp>
      <p:sp>
        <p:nvSpPr>
          <p:cNvPr id="3" name="Conclusion card 1"/>
          <p:cNvSpPr/>
          <p:nvPr/>
        </p:nvSpPr>
        <p:spPr>
          <a:xfrm>
            <a:off x="548640" y="1371600"/>
            <a:ext cx="2651760" cy="4754880"/>
          </a:xfrm>
          <a:prstGeom prst="roundRect">
            <a:avLst>
              <a:gd name="adj" fmla="val 4138"/>
            </a:avLst>
          </a:prstGeom>
          <a:solidFill>
            <a:schemeClr val="bg1">
              <a:alpha val="10000"/>
            </a:schemeClr>
          </a:solidFill>
          <a:ln/>
        </p:spPr>
      </p:sp>
      <p:sp>
        <p:nvSpPr>
          <p:cNvPr id="4" name="FaCheckCircle circle"/>
          <p:cNvSpPr/>
          <p:nvPr/>
        </p:nvSpPr>
        <p:spPr>
          <a:xfrm>
            <a:off x="777240" y="1600200"/>
            <a:ext cx="685800" cy="685800"/>
          </a:xfrm>
          <a:prstGeom prst="ellipse">
            <a:avLst/>
          </a:prstGeom>
          <a:solidFill>
            <a:schemeClr val="accent2"/>
          </a:solidFill>
          <a:ln/>
        </p:spPr>
      </p:sp>
      <p:pic>
        <p:nvPicPr>
          <p:cNvPr id="5" name="FaCheckCircle" descr="CheckCircle icon">    </p:cNvPr>
          <p:cNvPicPr>
            <a:picLocks noChangeAspect="1"/>
          </p:cNvPicPr>
          <p:nvPr/>
        </p:nvPicPr>
        <p:blipFill>
          <a:blip r:embed="rId1"/>
          <a:stretch>
            <a:fillRect/>
          </a:stretch>
        </p:blipFill>
        <p:spPr>
          <a:xfrm>
            <a:off x="955548" y="1778508"/>
            <a:ext cx="329184" cy="329184"/>
          </a:xfrm>
          <a:prstGeom prst="rect">
            <a:avLst/>
          </a:prstGeom>
        </p:spPr>
      </p:pic>
      <p:sp>
        <p:nvSpPr>
          <p:cNvPr id="6" name="Conclusion title 1"/>
          <p:cNvSpPr txBox="1"/>
          <p:nvPr/>
        </p:nvSpPr>
        <p:spPr>
          <a:xfrm>
            <a:off x="777240" y="2468880"/>
            <a:ext cx="2194560" cy="640080"/>
          </a:xfrm>
          <a:prstGeom prst="rect">
            <a:avLst/>
          </a:prstGeom>
          <a:noFill/>
          <a:ln/>
        </p:spPr>
        <p:txBody>
          <a:bodyPr wrap="square" lIns="0" tIns="0" rIns="0" bIns="0" rtlCol="0" anchor="t"/>
          <a:lstStyle/>
          <a:p>
            <a:pPr indent="0" marL="0">
              <a:buNone/>
            </a:pPr>
            <a:r>
              <a:rPr lang="en-US" sz="1800" b="1" dirty="0">
                <a:solidFill>
                  <a:schemeClr val="bg1"/>
                </a:solidFill>
              </a:rPr>
              <a:t>What was achieved</a:t>
            </a:r>
            <a:endParaRPr lang="en-US" sz="1800" dirty="0"/>
          </a:p>
        </p:txBody>
      </p:sp>
      <p:sp>
        <p:nvSpPr>
          <p:cNvPr id="7" name="Conclusion text 1"/>
          <p:cNvSpPr txBox="1"/>
          <p:nvPr/>
        </p:nvSpPr>
        <p:spPr>
          <a:xfrm>
            <a:off x="777240" y="3154680"/>
            <a:ext cx="2194560" cy="2834640"/>
          </a:xfrm>
          <a:prstGeom prst="rect">
            <a:avLst/>
          </a:prstGeom>
          <a:noFill/>
          <a:ln/>
        </p:spPr>
        <p:txBody>
          <a:bodyPr wrap="square" lIns="0" tIns="0" rIns="0" bIns="0" rtlCol="0" anchor="t"/>
          <a:lstStyle/>
          <a:p>
            <a:pPr indent="0" marL="0">
              <a:buNone/>
            </a:pPr>
            <a:r>
              <a:rPr lang="en-US" sz="1400" dirty="0">
                <a:solidFill>
                  <a:schemeClr val="bg2"/>
                </a:solidFill>
              </a:rPr>
              <a:t>Cleaned a 1,045 x 14 World Bank file into a 10,400-row dataset and a 200-row country-year table, answered 7 analysis questions and produced 4 charts.</a:t>
            </a:r>
            <a:endParaRPr lang="en-US" sz="1400" dirty="0"/>
          </a:p>
        </p:txBody>
      </p:sp>
      <p:sp>
        <p:nvSpPr>
          <p:cNvPr id="8" name="Conclusion card 2"/>
          <p:cNvSpPr/>
          <p:nvPr/>
        </p:nvSpPr>
        <p:spPr>
          <a:xfrm>
            <a:off x="3364992" y="1371600"/>
            <a:ext cx="2651760" cy="4754880"/>
          </a:xfrm>
          <a:prstGeom prst="roundRect">
            <a:avLst>
              <a:gd name="adj" fmla="val 4138"/>
            </a:avLst>
          </a:prstGeom>
          <a:solidFill>
            <a:schemeClr val="bg1">
              <a:alpha val="10000"/>
            </a:schemeClr>
          </a:solidFill>
          <a:ln/>
        </p:spPr>
      </p:sp>
      <p:sp>
        <p:nvSpPr>
          <p:cNvPr id="9" name="FaChartLine circle"/>
          <p:cNvSpPr/>
          <p:nvPr/>
        </p:nvSpPr>
        <p:spPr>
          <a:xfrm>
            <a:off x="3593592" y="1600200"/>
            <a:ext cx="685800" cy="685800"/>
          </a:xfrm>
          <a:prstGeom prst="ellipse">
            <a:avLst/>
          </a:prstGeom>
          <a:solidFill>
            <a:schemeClr val="accent2"/>
          </a:solidFill>
          <a:ln/>
        </p:spPr>
      </p:sp>
      <p:pic>
        <p:nvPicPr>
          <p:cNvPr id="10" name="FaChartLine" descr="ChartLine icon">    </p:cNvPr>
          <p:cNvPicPr>
            <a:picLocks noChangeAspect="1"/>
          </p:cNvPicPr>
          <p:nvPr/>
        </p:nvPicPr>
        <p:blipFill>
          <a:blip r:embed="rId2"/>
          <a:stretch>
            <a:fillRect/>
          </a:stretch>
        </p:blipFill>
        <p:spPr>
          <a:xfrm>
            <a:off x="3771900" y="1778508"/>
            <a:ext cx="329184" cy="329184"/>
          </a:xfrm>
          <a:prstGeom prst="rect">
            <a:avLst/>
          </a:prstGeom>
        </p:spPr>
      </p:pic>
      <p:sp>
        <p:nvSpPr>
          <p:cNvPr id="11" name="Conclusion title 2"/>
          <p:cNvSpPr txBox="1"/>
          <p:nvPr/>
        </p:nvSpPr>
        <p:spPr>
          <a:xfrm>
            <a:off x="3593592" y="2468880"/>
            <a:ext cx="2194560" cy="640080"/>
          </a:xfrm>
          <a:prstGeom prst="rect">
            <a:avLst/>
          </a:prstGeom>
          <a:noFill/>
          <a:ln/>
        </p:spPr>
        <p:txBody>
          <a:bodyPr wrap="square" lIns="0" tIns="0" rIns="0" bIns="0" rtlCol="0" anchor="t"/>
          <a:lstStyle/>
          <a:p>
            <a:pPr indent="0" marL="0">
              <a:buNone/>
            </a:pPr>
            <a:r>
              <a:rPr lang="en-US" sz="1800" b="1" dirty="0">
                <a:solidFill>
                  <a:schemeClr val="bg1"/>
                </a:solidFill>
              </a:rPr>
              <a:t>Major findings</a:t>
            </a:r>
            <a:endParaRPr lang="en-US" sz="1800" dirty="0"/>
          </a:p>
        </p:txBody>
      </p:sp>
      <p:sp>
        <p:nvSpPr>
          <p:cNvPr id="12" name="Conclusion text 2"/>
          <p:cNvSpPr txBox="1"/>
          <p:nvPr/>
        </p:nvSpPr>
        <p:spPr>
          <a:xfrm>
            <a:off x="3593592" y="3154680"/>
            <a:ext cx="2194560" cy="2834640"/>
          </a:xfrm>
          <a:prstGeom prst="rect">
            <a:avLst/>
          </a:prstGeom>
          <a:noFill/>
          <a:ln/>
        </p:spPr>
        <p:txBody>
          <a:bodyPr wrap="square" lIns="0" tIns="0" rIns="0" bIns="0" rtlCol="0" anchor="t"/>
          <a:lstStyle/>
          <a:p>
            <a:pPr indent="0" marL="0">
              <a:buNone/>
            </a:pPr>
            <a:r>
              <a:rPr lang="en-US" sz="1400" dirty="0">
                <a:solidFill>
                  <a:schemeClr val="bg2"/>
                </a:solidFill>
              </a:rPr>
              <a:t>COVID-19 cut average growth to -4.32% in 2020, followed by +6.56% in 2021. Lower-income economies grew faster (3.34% vs 1.70%). Inflation is extreme in Argentina and Turkiye.</a:t>
            </a:r>
            <a:endParaRPr lang="en-US" sz="1400" dirty="0"/>
          </a:p>
        </p:txBody>
      </p:sp>
      <p:sp>
        <p:nvSpPr>
          <p:cNvPr id="13" name="Conclusion card 3"/>
          <p:cNvSpPr/>
          <p:nvPr/>
        </p:nvSpPr>
        <p:spPr>
          <a:xfrm>
            <a:off x="6181344" y="1371600"/>
            <a:ext cx="2651760" cy="4754880"/>
          </a:xfrm>
          <a:prstGeom prst="roundRect">
            <a:avLst>
              <a:gd name="adj" fmla="val 4138"/>
            </a:avLst>
          </a:prstGeom>
          <a:solidFill>
            <a:schemeClr val="bg1">
              <a:alpha val="10000"/>
            </a:schemeClr>
          </a:solidFill>
          <a:ln/>
        </p:spPr>
      </p:sp>
      <p:sp>
        <p:nvSpPr>
          <p:cNvPr id="14" name="FaBullseye circle"/>
          <p:cNvSpPr/>
          <p:nvPr/>
        </p:nvSpPr>
        <p:spPr>
          <a:xfrm>
            <a:off x="6409944" y="1600200"/>
            <a:ext cx="685800" cy="685800"/>
          </a:xfrm>
          <a:prstGeom prst="ellipse">
            <a:avLst/>
          </a:prstGeom>
          <a:solidFill>
            <a:schemeClr val="accent2"/>
          </a:solidFill>
          <a:ln/>
        </p:spPr>
      </p:sp>
      <p:pic>
        <p:nvPicPr>
          <p:cNvPr id="15" name="FaBullseye" descr="Bullseye icon">    </p:cNvPr>
          <p:cNvPicPr>
            <a:picLocks noChangeAspect="1"/>
          </p:cNvPicPr>
          <p:nvPr/>
        </p:nvPicPr>
        <p:blipFill>
          <a:blip r:embed="rId3"/>
          <a:stretch>
            <a:fillRect/>
          </a:stretch>
        </p:blipFill>
        <p:spPr>
          <a:xfrm>
            <a:off x="6588252" y="1778508"/>
            <a:ext cx="329184" cy="329184"/>
          </a:xfrm>
          <a:prstGeom prst="rect">
            <a:avLst/>
          </a:prstGeom>
        </p:spPr>
      </p:pic>
      <p:sp>
        <p:nvSpPr>
          <p:cNvPr id="16" name="Conclusion title 3"/>
          <p:cNvSpPr txBox="1"/>
          <p:nvPr/>
        </p:nvSpPr>
        <p:spPr>
          <a:xfrm>
            <a:off x="6409944" y="2468880"/>
            <a:ext cx="2194560" cy="640080"/>
          </a:xfrm>
          <a:prstGeom prst="rect">
            <a:avLst/>
          </a:prstGeom>
          <a:noFill/>
          <a:ln/>
        </p:spPr>
        <p:txBody>
          <a:bodyPr wrap="square" lIns="0" tIns="0" rIns="0" bIns="0" rtlCol="0" anchor="t"/>
          <a:lstStyle/>
          <a:p>
            <a:pPr indent="0" marL="0">
              <a:buNone/>
            </a:pPr>
            <a:r>
              <a:rPr lang="en-US" sz="1800" b="1" dirty="0">
                <a:solidFill>
                  <a:schemeClr val="bg1"/>
                </a:solidFill>
              </a:rPr>
              <a:t>How it addresses the problem</a:t>
            </a:r>
            <a:endParaRPr lang="en-US" sz="1800" dirty="0"/>
          </a:p>
        </p:txBody>
      </p:sp>
      <p:sp>
        <p:nvSpPr>
          <p:cNvPr id="17" name="Conclusion text 3"/>
          <p:cNvSpPr txBox="1"/>
          <p:nvPr/>
        </p:nvSpPr>
        <p:spPr>
          <a:xfrm>
            <a:off x="6409944" y="3154680"/>
            <a:ext cx="2194560" cy="2834640"/>
          </a:xfrm>
          <a:prstGeom prst="rect">
            <a:avLst/>
          </a:prstGeom>
          <a:noFill/>
          <a:ln/>
        </p:spPr>
        <p:txBody>
          <a:bodyPr wrap="square" lIns="0" tIns="0" rIns="0" bIns="0" rtlCol="0" anchor="t"/>
          <a:lstStyle/>
          <a:p>
            <a:pPr indent="0" marL="0">
              <a:buNone/>
            </a:pPr>
            <a:r>
              <a:rPr lang="en-US" sz="1400" dirty="0">
                <a:solidFill>
                  <a:schemeClr val="bg2"/>
                </a:solidFill>
              </a:rPr>
              <a:t>Turns a messy indicator table into clear trends and comparisons that support policy and investment decisions.</a:t>
            </a:r>
            <a:endParaRPr lang="en-US" sz="1400" dirty="0"/>
          </a:p>
        </p:txBody>
      </p:sp>
      <p:sp>
        <p:nvSpPr>
          <p:cNvPr id="18" name="Conclusion card 4"/>
          <p:cNvSpPr/>
          <p:nvPr/>
        </p:nvSpPr>
        <p:spPr>
          <a:xfrm>
            <a:off x="8997696" y="1371600"/>
            <a:ext cx="2651760" cy="4754880"/>
          </a:xfrm>
          <a:prstGeom prst="roundRect">
            <a:avLst>
              <a:gd name="adj" fmla="val 4138"/>
            </a:avLst>
          </a:prstGeom>
          <a:solidFill>
            <a:schemeClr val="bg1">
              <a:alpha val="10000"/>
            </a:schemeClr>
          </a:solidFill>
          <a:ln/>
        </p:spPr>
      </p:sp>
      <p:sp>
        <p:nvSpPr>
          <p:cNvPr id="19" name="FaRocket circle"/>
          <p:cNvSpPr/>
          <p:nvPr/>
        </p:nvSpPr>
        <p:spPr>
          <a:xfrm>
            <a:off x="9226296" y="1600200"/>
            <a:ext cx="685800" cy="685800"/>
          </a:xfrm>
          <a:prstGeom prst="ellipse">
            <a:avLst/>
          </a:prstGeom>
          <a:solidFill>
            <a:schemeClr val="accent2"/>
          </a:solidFill>
          <a:ln/>
        </p:spPr>
      </p:sp>
      <p:pic>
        <p:nvPicPr>
          <p:cNvPr id="20" name="FaRocket" descr="Rocket icon">    </p:cNvPr>
          <p:cNvPicPr>
            <a:picLocks noChangeAspect="1"/>
          </p:cNvPicPr>
          <p:nvPr/>
        </p:nvPicPr>
        <p:blipFill>
          <a:blip r:embed="rId4"/>
          <a:stretch>
            <a:fillRect/>
          </a:stretch>
        </p:blipFill>
        <p:spPr>
          <a:xfrm>
            <a:off x="9404604" y="1778508"/>
            <a:ext cx="329184" cy="329184"/>
          </a:xfrm>
          <a:prstGeom prst="rect">
            <a:avLst/>
          </a:prstGeom>
        </p:spPr>
      </p:pic>
      <p:sp>
        <p:nvSpPr>
          <p:cNvPr id="21" name="Conclusion title 4"/>
          <p:cNvSpPr txBox="1"/>
          <p:nvPr/>
        </p:nvSpPr>
        <p:spPr>
          <a:xfrm>
            <a:off x="9226296" y="2468880"/>
            <a:ext cx="2194560" cy="640080"/>
          </a:xfrm>
          <a:prstGeom prst="rect">
            <a:avLst/>
          </a:prstGeom>
          <a:noFill/>
          <a:ln/>
        </p:spPr>
        <p:txBody>
          <a:bodyPr wrap="square" lIns="0" tIns="0" rIns="0" bIns="0" rtlCol="0" anchor="t"/>
          <a:lstStyle/>
          <a:p>
            <a:pPr indent="0" marL="0">
              <a:buNone/>
            </a:pPr>
            <a:r>
              <a:rPr lang="en-US" sz="1800" b="1" dirty="0">
                <a:solidFill>
                  <a:schemeClr val="bg1"/>
                </a:solidFill>
              </a:rPr>
              <a:t>Future scope</a:t>
            </a:r>
            <a:endParaRPr lang="en-US" sz="1800" dirty="0"/>
          </a:p>
        </p:txBody>
      </p:sp>
      <p:sp>
        <p:nvSpPr>
          <p:cNvPr id="22" name="Conclusion text 4"/>
          <p:cNvSpPr txBox="1"/>
          <p:nvPr/>
        </p:nvSpPr>
        <p:spPr>
          <a:xfrm>
            <a:off x="9226296" y="3154680"/>
            <a:ext cx="2194560" cy="2834640"/>
          </a:xfrm>
          <a:prstGeom prst="rect">
            <a:avLst/>
          </a:prstGeom>
          <a:noFill/>
          <a:ln/>
        </p:spPr>
        <p:txBody>
          <a:bodyPr wrap="square" lIns="0" tIns="0" rIns="0" bIns="0" rtlCol="0" anchor="t"/>
          <a:lstStyle/>
          <a:p>
            <a:pPr indent="0" marL="0">
              <a:buNone/>
            </a:pPr>
            <a:r>
              <a:rPr lang="en-US" sz="1400" dirty="0">
                <a:solidFill>
                  <a:schemeClr val="bg2"/>
                </a:solidFill>
              </a:rPr>
              <a:t>Add more countries and years, include the latest social indicators when published, and add forecasting or an interactive dashboard.</a:t>
            </a:r>
            <a:endParaRPr lang="en-US" sz="14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Global Economy EDA">
  <a:themeElements>
    <a:clrScheme name="Global Economy EDA">
      <a:dk1>
        <a:srgbClr val="1B2430"/>
      </a:dk1>
      <a:lt1>
        <a:srgbClr val="FFFFFF"/>
      </a:lt1>
      <a:dk2>
        <a:srgbClr val="10263F"/>
      </a:dk2>
      <a:lt2>
        <a:srgbClr val="EAF1F7"/>
      </a:lt2>
      <a:accent1>
        <a:srgbClr val="1B7F9E"/>
      </a:accent1>
      <a:accent2>
        <a:srgbClr val="F2A93B"/>
      </a:accent2>
      <a:accent3>
        <a:srgbClr val="C0392B"/>
      </a:accent3>
      <a:accent4>
        <a:srgbClr val="27AE60"/>
      </a:accent4>
      <a:accent5>
        <a:srgbClr val="5B7C99"/>
      </a:accent5>
      <a:accent6>
        <a:srgbClr val="8A5A9E"/>
      </a:accent6>
      <a:hlink>
        <a:srgbClr val="1B7F9E"/>
      </a:hlink>
      <a:folHlink>
        <a:srgbClr val="5B7C99"/>
      </a:folHlink>
    </a:clrScheme>
    <a:fontScheme name="Global Economy ED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Exploratory Data Analysis of Global Economic Indicators</dc:title>
  <dc:subject>PptxGenJS Presentation</dc:subject>
  <dc:creator>Archanaa D</dc:creator>
  <cp:lastModifiedBy>Archanaa D</cp:lastModifiedBy>
  <cp:revision>1</cp:revision>
  <dcterms:created xsi:type="dcterms:W3CDTF">2026-10-08T22:48:23Z</dcterms:created>
  <dcterms:modified xsi:type="dcterms:W3CDTF">2026-10-08T22:48:23Z</dcterms:modified>
</cp:coreProperties>
</file>